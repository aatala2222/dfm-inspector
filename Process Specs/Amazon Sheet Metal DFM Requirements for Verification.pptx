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76" r:id="rId3"/>
    <p:sldId id="577" r:id="rId4"/>
    <p:sldId id="578" r:id="rId5"/>
    <p:sldId id="579" r:id="rId6"/>
    <p:sldId id="623" r:id="rId7"/>
    <p:sldId id="624" r:id="rId8"/>
    <p:sldId id="627" r:id="rId9"/>
    <p:sldId id="628" r:id="rId10"/>
    <p:sldId id="641" r:id="rId11"/>
    <p:sldId id="629" r:id="rId12"/>
    <p:sldId id="631" r:id="rId13"/>
    <p:sldId id="643" r:id="rId14"/>
    <p:sldId id="634" r:id="rId15"/>
    <p:sldId id="635" r:id="rId16"/>
    <p:sldId id="637" r:id="rId17"/>
    <p:sldId id="638" r:id="rId18"/>
    <p:sldId id="645" r:id="rId19"/>
    <p:sldId id="64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-115" y="-1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41F1BF-64B8-41B8-B9B7-3B489C671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0253DC2-DD54-4DB2-855B-822D70BE5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66ABD92-2BDB-47B8-930A-07450FFE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28F7C04-7CEC-4F46-8A77-F8AF21B4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AEC4328-2550-40FF-952E-5209034F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7174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1A1492-82F5-40F8-B3AB-D77EB734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36969E4-54CA-41EF-AF88-C81D4FCEA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1471A3-E4BF-4C44-AFBA-7947A8D8F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65700F4-EAD7-41CE-BDC3-E0A1C46E7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373A22-9F97-44CA-B58B-7D8674A4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74026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4BA12E-8FEF-4223-ADBA-0BFE9D10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233E1A4-BD99-4665-B7CF-B68C48529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DF4889C-DD6F-4948-ADE8-2BE5B7F9D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EA21C8-EE1E-4B9E-B348-ACA1D5FF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FCD595-8ABD-44C9-826A-7989DADB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8321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2401D2-A5BC-44A5-9EBA-2519D06D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CCF0E93-905A-4212-83C8-CCFADF59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24A3887-9BF7-4977-B26E-3F47FF808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631F6E9-77FD-4675-902A-B12CFD09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9EE5500-D00F-4318-8600-D959E5B35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932030C-DAB5-47E6-90AB-D0AF0C45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4217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0A7594-8475-4B69-8776-3BB9F9DC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12626B8-DE1D-46E8-BCF5-4BFA13247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D070653-7565-4595-87EC-94821A012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BD875680-E161-4219-9B3F-3B00677AA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1C1FF75-918D-48CE-921A-700175893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B5C32F9-46CA-4529-8938-9BB42248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08790B3-F469-47AD-BE09-F27D8662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D8AECB2-7D1F-475C-B5AF-CC321DAE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784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4C2AE6-D8D4-44D3-9044-47AC3B78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0BBFA9B-3E5F-4207-9574-7C7569DCD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D07F907-D029-4435-9CBA-77C2CF69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584A33F-C1B0-4C9B-988E-4BF4F422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09307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C5D9D27-D12E-4C9F-B8C9-CA00229E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02DC04A-5380-4FB7-B42A-8A643E4C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695C3B-E653-4208-B578-A9DD2872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9764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FF24D4-0E3C-45AB-965D-3057A4D1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DB07515-C24B-4346-9E02-21B5FE876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E16C4D4-70EF-4DDC-8131-AB68A0E98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70139AB-3B0D-4B1B-8B7D-6C286690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43B786A-D351-459A-80AE-C77266EF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4C2C481-0968-408F-B338-71B31482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782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F774ED-BE8E-48FE-A33F-647F5C40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76D7D5A-5018-4D87-BACD-E8FCFF664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FB46DB0-6675-42B7-856A-BCD372A9B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FD52A38-0189-4683-B2E5-8A4BFE484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5024024-D1C3-4874-9B7B-E6738699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9F6A912-70E6-4EA1-9957-E34CAFD5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1969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922BB6-E09B-4ACF-902B-8E0575FEC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7AAA8D9-08BB-412E-9F2A-9D11F5EF8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ACC408-3D62-45FA-98D5-B3978544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86807E9-C61C-4BEB-9C4C-EB998CD48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3ECD1DA-C132-46BB-BB58-0B0578BB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0380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62CD0885-60AE-408B-8580-B9146A6AC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E86C2E6-0DCB-44E5-B673-B0B7B8C5E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E926896-AAFA-4DDC-8413-588E5992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870EF8C-9184-49D8-8CCC-929745DFB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457B8A-8F27-448D-8377-241820678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5136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089EA72-F504-4F78-B78F-128B83BD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B572640-0E01-4318-A0E4-1B1500D7F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60D7C4-FB51-448C-9F2E-5D8CC73A7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EFE11-4370-49EE-A59E-4E0EA3A7CD56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C06549-94EB-4D2D-813D-5C49CE496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F2931F0-382C-4CAC-950E-6C06209D6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8EE60-CF32-4167-A512-3C56B4D3D1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9393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4647E24-3CB1-48AE-AC80-913DBBC85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Amazon Sheet Metal DFM Requirements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593CE407-3456-463C-BFBC-93AB7CA8F3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design recommendations for laser cutting, turret punch, and progressive die based on process capabilities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Bruce Johnson 9-27-24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6343" y="5120640"/>
            <a:ext cx="5474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With Sanmina Comments : Jarrett </a:t>
            </a:r>
            <a:r>
              <a:rPr lang="en-US" dirty="0" err="1" smtClean="0"/>
              <a:t>Pivarunas</a:t>
            </a:r>
            <a:r>
              <a:rPr lang="en-US" dirty="0" smtClean="0"/>
              <a:t> 10/28/2024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3473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06974364-03BE-4A18-B657-48F670A49A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1776984"/>
          <a:ext cx="8686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="" xmlns:a16="http://schemas.microsoft.com/office/drawing/2014/main" val="642093336"/>
                    </a:ext>
                  </a:extLst>
                </a:gridCol>
                <a:gridCol w="4343400">
                  <a:extLst>
                    <a:ext uri="{9D8B030D-6E8A-4147-A177-3AD203B41FA5}">
                      <a16:colId xmlns="" xmlns:a16="http://schemas.microsoft.com/office/drawing/2014/main" val="132777203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Description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Tolerance mm (inch)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46448220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FEATURE to FEATURE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+/-0.10  (0.004”)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11342493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PUNCHED feature size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+/-0.10  (0.004”)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2021322144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FEATURE with multiple hits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+/-0.20  (0.008”)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118418911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FEATURE to EDGE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1.33T (material thickness)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951584223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Turret Press Process Capabilities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96047" y="6565381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97924" y="4467497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tolerances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3095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06974364-03BE-4A18-B657-48F670A49A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1508760"/>
          <a:ext cx="8686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="" xmlns:a16="http://schemas.microsoft.com/office/drawing/2014/main" val="642093336"/>
                    </a:ext>
                  </a:extLst>
                </a:gridCol>
                <a:gridCol w="5120640">
                  <a:extLst>
                    <a:ext uri="{9D8B030D-6E8A-4147-A177-3AD203B41FA5}">
                      <a16:colId xmlns="" xmlns:a16="http://schemas.microsoft.com/office/drawing/2014/main" val="132777203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Description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Tolerance mm (inch)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46448220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FEATURE to FEATURE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+/-0.10  (0.004”)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11342493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FEATURE to EDGE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+/-0.10  (0.004”), 1.33T (material thickness)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2021322144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Minimum KURF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+/-0.2  (0.008”)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118418911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Minimum FEATURE size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0.25T,  25% material thickness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951584223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Laser Cutting Press Process Capabilities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24400" y="6525896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97924" y="4467497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tolerances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84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06974364-03BE-4A18-B657-48F670A49A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1508760"/>
          <a:ext cx="8686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>
                  <a:extLst>
                    <a:ext uri="{9D8B030D-6E8A-4147-A177-3AD203B41FA5}">
                      <a16:colId xmlns="" xmlns:a16="http://schemas.microsoft.com/office/drawing/2014/main" val="642093336"/>
                    </a:ext>
                  </a:extLst>
                </a:gridCol>
                <a:gridCol w="4343400">
                  <a:extLst>
                    <a:ext uri="{9D8B030D-6E8A-4147-A177-3AD203B41FA5}">
                      <a16:colId xmlns="" xmlns:a16="http://schemas.microsoft.com/office/drawing/2014/main" val="132777203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Description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Tolerance mm (inch)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46448220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FOLD to FOLD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+/-0.5  (0.020”)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11342493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FOLD to FEATURE or EDGE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+/-0.4  (0.015”)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2021322144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BEND angle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+/-1.5°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118418911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US" sz="2200" dirty="0"/>
                        <a:t>Minimum RADIUS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1.33T (material thickness)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951584223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Hand Brake Press Process Capabilities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557069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97924" y="4467497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Sanmina Guadalajara meets these tolerances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8512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06974364-03BE-4A18-B657-48F670A49A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988937781"/>
              </p:ext>
            </p:extLst>
          </p:nvPr>
        </p:nvGraphicFramePr>
        <p:xfrm>
          <a:off x="1066800" y="1200007"/>
          <a:ext cx="9966960" cy="556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="" xmlns:a16="http://schemas.microsoft.com/office/drawing/2014/main" val="642093336"/>
                    </a:ext>
                  </a:extLst>
                </a:gridCol>
                <a:gridCol w="4297680">
                  <a:extLst>
                    <a:ext uri="{9D8B030D-6E8A-4147-A177-3AD203B41FA5}">
                      <a16:colId xmlns="" xmlns:a16="http://schemas.microsoft.com/office/drawing/2014/main" val="1327772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US" sz="2200" dirty="0"/>
                        <a:t>Description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Tolerance mm (inch)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4644822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lang="en-US" sz="2200" dirty="0"/>
                        <a:t>Distance between FEATURES in the same station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+/-0.05  (0.002”)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11342493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lang="en-US" sz="2200" dirty="0"/>
                        <a:t>Distance between FEATURES in different stations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+/-0.2  (0.008”)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202132214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Distance between FOLDS in the same station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+/-0.2  (0.008”)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118418911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lang="en-US" sz="2200" dirty="0"/>
                        <a:t>Distance between FOLDS in different stations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+/-0.4  (0.016”), [+/-0.3 (0.012”)]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95158422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FOLD to FEATURE or EDGE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+/-0.25 (0.010”), [+/-0.1 (0.004”)]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30503463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Bend ANGLE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+/- 1°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195153574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Minimum HOLE diameter, SLOT width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1.33T (material thickness)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52268769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HOLE or FEATURE size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+/-0.08  (0.003”), [+/-0.03 (0.001”)]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422557774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Flatness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0.15/100mm,  (0.006”/4”)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331832317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Straightness</a:t>
                      </a:r>
                    </a:p>
                  </a:txBody>
                  <a:tcPr marL="109728" marR="109728"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/>
                        <a:t>0.12/100mm,  (0.005”/4”)</a:t>
                      </a:r>
                    </a:p>
                  </a:txBody>
                  <a:tcPr marL="109728" marR="109728" marT="54864" marB="54864"/>
                </a:tc>
                <a:extLst>
                  <a:ext uri="{0D108BD9-81ED-4DB2-BD59-A6C34878D82A}">
                    <a16:rowId xmlns="" xmlns:a16="http://schemas.microsoft.com/office/drawing/2014/main" val="123647641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Progressive Tool Process Capabilities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60974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C8CF279-F814-4E55-84CA-8D22B45020F5}"/>
              </a:ext>
            </a:extLst>
          </p:cNvPr>
          <p:cNvSpPr txBox="1"/>
          <p:nvPr/>
        </p:nvSpPr>
        <p:spPr>
          <a:xfrm>
            <a:off x="6918961" y="6063801"/>
            <a:ext cx="360861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40" dirty="0"/>
              <a:t>[Fine tolerances achievable at additional cost]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061" y="130630"/>
            <a:ext cx="3558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tolerances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75414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66800" y="1143000"/>
            <a:ext cx="9966960" cy="484632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Specify punch direction</a:t>
            </a:r>
          </a:p>
          <a:p>
            <a:r>
              <a:rPr lang="en-US" dirty="0"/>
              <a:t>Specify grain direction</a:t>
            </a:r>
          </a:p>
          <a:p>
            <a:r>
              <a:rPr lang="en-US" dirty="0"/>
              <a:t>Specify areas that need deburring or coining</a:t>
            </a:r>
          </a:p>
          <a:p>
            <a:r>
              <a:rPr lang="en-US" dirty="0"/>
              <a:t>Identify features that need to be grouped in a single station for best tolerancing</a:t>
            </a:r>
          </a:p>
          <a:p>
            <a:r>
              <a:rPr lang="en-US" dirty="0"/>
              <a:t>Avoid secondary operations if possible</a:t>
            </a:r>
          </a:p>
          <a:p>
            <a:r>
              <a:rPr lang="en-US" dirty="0"/>
              <a:t>Keep embosses and draws shallow</a:t>
            </a:r>
          </a:p>
          <a:p>
            <a:r>
              <a:rPr lang="en-US" dirty="0"/>
              <a:t>Use standard readily available materials</a:t>
            </a:r>
          </a:p>
          <a:p>
            <a:r>
              <a:rPr lang="en-US" dirty="0"/>
              <a:t>Use precoated materials, avoid unplated  materials or secondary protective films</a:t>
            </a:r>
          </a:p>
          <a:p>
            <a:r>
              <a:rPr lang="en-US" dirty="0"/>
              <a:t>Review design for  handling and shipping damage</a:t>
            </a:r>
          </a:p>
          <a:p>
            <a:r>
              <a:rPr lang="en-US" dirty="0"/>
              <a:t>Review strip layout before releasing hard tooling to the supplier</a:t>
            </a:r>
          </a:p>
          <a:p>
            <a:r>
              <a:rPr lang="en-US" dirty="0"/>
              <a:t>Communicate features that are not stable during tooling so mitigation can be put in place</a:t>
            </a:r>
          </a:p>
          <a:p>
            <a:endParaRPr lang="en-US" sz="168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 Design Guidelines Checklist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5547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99953" y="5512526"/>
            <a:ext cx="5185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Guidelines, part of general/standard practices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246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66800" y="1143000"/>
            <a:ext cx="9966960" cy="4846320"/>
          </a:xfrm>
        </p:spPr>
        <p:txBody>
          <a:bodyPr>
            <a:normAutofit fontScale="92500"/>
          </a:bodyPr>
          <a:lstStyle/>
          <a:p>
            <a:r>
              <a:rPr lang="en-US" dirty="0"/>
              <a:t>Add tooling hole(s) to supply consistent reference features if possible</a:t>
            </a:r>
          </a:p>
          <a:p>
            <a:r>
              <a:rPr lang="en-US" dirty="0"/>
              <a:t>Specify acceptable locations for carrier tabs</a:t>
            </a:r>
          </a:p>
          <a:p>
            <a:r>
              <a:rPr lang="en-US" dirty="0"/>
              <a:t>Datum structure(s) aligns with the use and function of the part</a:t>
            </a:r>
          </a:p>
          <a:p>
            <a:r>
              <a:rPr lang="en-US" dirty="0"/>
              <a:t>GD&amp;T clearly defines features</a:t>
            </a:r>
          </a:p>
          <a:p>
            <a:r>
              <a:rPr lang="en-US" dirty="0"/>
              <a:t>Ensure that process control dimensions can be measured at the press with simple tools</a:t>
            </a:r>
          </a:p>
          <a:p>
            <a:r>
              <a:rPr lang="en-US" dirty="0"/>
              <a:t>Use sheared edges for all critical reference features</a:t>
            </a:r>
          </a:p>
          <a:p>
            <a:r>
              <a:rPr lang="en-US" dirty="0"/>
              <a:t>Define maximum and minimum bend radius</a:t>
            </a:r>
          </a:p>
          <a:p>
            <a:r>
              <a:rPr lang="en-US" dirty="0"/>
              <a:t>Design inspection fixtures and process in parallel with the part design</a:t>
            </a:r>
          </a:p>
          <a:p>
            <a:r>
              <a:rPr lang="en-US" dirty="0"/>
              <a:t>Clearly specify critical and major dimensions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 Design Guidelines Checklist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2480" y="6582007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21821" y="5741126"/>
            <a:ext cx="5185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Guidelines, part of general/standard practices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71160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497365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ABD9FCB6-39F5-4F36-AF1B-4BAF7B8C49E1}"/>
              </a:ext>
            </a:extLst>
          </p:cNvPr>
          <p:cNvGrpSpPr/>
          <p:nvPr/>
        </p:nvGrpSpPr>
        <p:grpSpPr>
          <a:xfrm>
            <a:off x="5127085" y="1783081"/>
            <a:ext cx="5882611" cy="2792699"/>
            <a:chOff x="3551261" y="1398239"/>
            <a:chExt cx="4902176" cy="2327249"/>
          </a:xfrm>
        </p:grpSpPr>
        <p:pic>
          <p:nvPicPr>
            <p:cNvPr id="2" name="Picture 1">
              <a:extLst>
                <a:ext uri="{FF2B5EF4-FFF2-40B4-BE49-F238E27FC236}">
                  <a16:creationId xmlns="" xmlns:a16="http://schemas.microsoft.com/office/drawing/2014/main" id="{7164E544-AE26-4808-A4DB-DDD3DF18C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6162" y="1398239"/>
              <a:ext cx="4867275" cy="232724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="" xmlns:a16="http://schemas.microsoft.com/office/drawing/2014/main" id="{26F146A8-8462-49D3-9DC4-138805067770}"/>
                </a:ext>
              </a:extLst>
            </p:cNvPr>
            <p:cNvSpPr/>
            <p:nvPr/>
          </p:nvSpPr>
          <p:spPr bwMode="auto">
            <a:xfrm>
              <a:off x="3551261" y="3238500"/>
              <a:ext cx="914400" cy="3810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9728" tIns="54864" rIns="109728" bIns="54864" numCol="1" rtlCol="0" anchor="t" anchorCtr="0" compatLnSpc="1">
              <a:prstTxWarp prst="textNoShape">
                <a:avLst/>
              </a:prstTxWarp>
            </a:bodyPr>
            <a:lstStyle/>
            <a:p>
              <a:pPr defTabSz="109728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80" dirty="0">
                <a:solidFill>
                  <a:schemeClr val="bg1"/>
                </a:solidFill>
                <a:latin typeface="Arial" charset="0"/>
              </a:endParaRPr>
            </a:p>
          </p:txBody>
        </p:sp>
      </p:grpSp>
      <p:sp>
        <p:nvSpPr>
          <p:cNvPr id="12" name="Content Placeholder 1">
            <a:extLst>
              <a:ext uri="{FF2B5EF4-FFF2-40B4-BE49-F238E27FC236}">
                <a16:creationId xmlns="" xmlns:a16="http://schemas.microsoft.com/office/drawing/2014/main" id="{7A5FFBD5-7B4A-4A90-92A7-292EDE867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990" y="2072090"/>
            <a:ext cx="5303520" cy="2924207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en-US" dirty="0"/>
              <a:t>A max = 2B or 6T</a:t>
            </a:r>
          </a:p>
          <a:p>
            <a:pPr marL="342900" indent="-342900"/>
            <a:r>
              <a:rPr lang="en-US" dirty="0"/>
              <a:t>B min = 1.33T </a:t>
            </a:r>
          </a:p>
          <a:p>
            <a:pPr marL="342900" indent="-342900"/>
            <a:r>
              <a:rPr lang="en-US" dirty="0"/>
              <a:t>C min = 2T</a:t>
            </a:r>
          </a:p>
          <a:p>
            <a:pPr marL="342900" indent="-342900"/>
            <a:r>
              <a:rPr lang="en-US" dirty="0"/>
              <a:t>D min = C</a:t>
            </a:r>
          </a:p>
          <a:p>
            <a:pPr marL="342900" indent="-342900"/>
            <a:r>
              <a:rPr lang="en-US" dirty="0"/>
              <a:t>R1 min = 0.5T or 0.4</a:t>
            </a:r>
          </a:p>
          <a:p>
            <a:pPr marL="342900" indent="-342900"/>
            <a:r>
              <a:rPr lang="en-US" dirty="0"/>
              <a:t>R2 min = 0.5T or 0.4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5622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6760" y="6635837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469D340-8C37-4A2B-8ADD-45279FBA10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10800000">
            <a:off x="6004560" y="1691641"/>
            <a:ext cx="4114800" cy="3288992"/>
          </a:xfrm>
          <a:prstGeom prst="rect">
            <a:avLst/>
          </a:prstGeom>
        </p:spPr>
      </p:pic>
      <p:sp>
        <p:nvSpPr>
          <p:cNvPr id="12" name="Content Placeholder 1">
            <a:extLst>
              <a:ext uri="{FF2B5EF4-FFF2-40B4-BE49-F238E27FC236}">
                <a16:creationId xmlns="" xmlns:a16="http://schemas.microsoft.com/office/drawing/2014/main" id="{71851A17-E639-4A60-A816-DB4474B19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982" y="1784503"/>
            <a:ext cx="5303520" cy="32889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min = 2.0T</a:t>
            </a:r>
          </a:p>
          <a:p>
            <a:r>
              <a:rPr lang="en-US" dirty="0"/>
              <a:t>B min = 2.0T </a:t>
            </a:r>
          </a:p>
          <a:p>
            <a:r>
              <a:rPr lang="en-US" dirty="0"/>
              <a:t>C max = 50mm when A = minimum</a:t>
            </a:r>
          </a:p>
          <a:p>
            <a:r>
              <a:rPr lang="en-US" dirty="0"/>
              <a:t>C min = 2R + T</a:t>
            </a:r>
          </a:p>
          <a:p>
            <a:r>
              <a:rPr lang="en-US" dirty="0"/>
              <a:t>D min = 2T</a:t>
            </a:r>
          </a:p>
          <a:p>
            <a:r>
              <a:rPr lang="en-US" dirty="0"/>
              <a:t>E min = 1.2T</a:t>
            </a:r>
          </a:p>
          <a:p>
            <a:r>
              <a:rPr lang="en-US" dirty="0"/>
              <a:t>F min = 3T if C &lt;= 10T</a:t>
            </a:r>
            <a:br>
              <a:rPr lang="en-US" dirty="0"/>
            </a:br>
            <a:r>
              <a:rPr lang="en-US" dirty="0"/>
              <a:t>              4T if C &gt; 10T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9416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39640" y="6557069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53F8327F-93F8-4794-B4DA-7CA172B7532B}"/>
              </a:ext>
            </a:extLst>
          </p:cNvPr>
          <p:cNvGrpSpPr/>
          <p:nvPr/>
        </p:nvGrpSpPr>
        <p:grpSpPr>
          <a:xfrm>
            <a:off x="6736081" y="1508761"/>
            <a:ext cx="4400550" cy="3554730"/>
            <a:chOff x="5105400" y="1257300"/>
            <a:chExt cx="3667125" cy="2962275"/>
          </a:xfrm>
        </p:grpSpPr>
        <p:pic>
          <p:nvPicPr>
            <p:cNvPr id="2" name="Picture 1">
              <a:extLst>
                <a:ext uri="{FF2B5EF4-FFF2-40B4-BE49-F238E27FC236}">
                  <a16:creationId xmlns="" xmlns:a16="http://schemas.microsoft.com/office/drawing/2014/main" id="{F6927C00-068F-4BA5-A4A5-282C38989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1257300"/>
              <a:ext cx="3667125" cy="296227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="" xmlns:a16="http://schemas.microsoft.com/office/drawing/2014/main" id="{146DE6C8-B6C3-4C28-8CA6-771A77DD3B59}"/>
                </a:ext>
              </a:extLst>
            </p:cNvPr>
            <p:cNvSpPr/>
            <p:nvPr/>
          </p:nvSpPr>
          <p:spPr bwMode="auto">
            <a:xfrm>
              <a:off x="5791200" y="3619500"/>
              <a:ext cx="533400" cy="3810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9728" tIns="54864" rIns="109728" bIns="54864" numCol="1" rtlCol="0" anchor="t" anchorCtr="0" compatLnSpc="1">
              <a:prstTxWarp prst="textNoShape">
                <a:avLst/>
              </a:prstTxWarp>
            </a:bodyPr>
            <a:lstStyle/>
            <a:p>
              <a:pPr defTabSz="109728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880" dirty="0">
                <a:solidFill>
                  <a:schemeClr val="bg1"/>
                </a:solidFill>
                <a:latin typeface="Arial" charset="0"/>
              </a:endParaRPr>
            </a:p>
          </p:txBody>
        </p:sp>
      </p:grpSp>
      <p:sp>
        <p:nvSpPr>
          <p:cNvPr id="11" name="Content Placeholder 1">
            <a:extLst>
              <a:ext uri="{FF2B5EF4-FFF2-40B4-BE49-F238E27FC236}">
                <a16:creationId xmlns="" xmlns:a16="http://schemas.microsoft.com/office/drawing/2014/main" id="{5BBB3EBD-2A13-4F30-A82E-723E04752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20" y="2057400"/>
            <a:ext cx="5303520" cy="1371600"/>
          </a:xfrm>
        </p:spPr>
        <p:txBody>
          <a:bodyPr/>
          <a:lstStyle/>
          <a:p>
            <a:r>
              <a:rPr lang="en-US" dirty="0"/>
              <a:t>Minimum distance between holes D = 1.2T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67795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Bend Relief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62302" y="6619212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C1723202-734A-4998-9E9A-627B2D24FF9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6113" y="1783080"/>
            <a:ext cx="8112782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6758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Hole Distance from Bend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9299" y="6573694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47F285F-F2B2-4954-963F-2B96EFCFF2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81600" y="2185120"/>
            <a:ext cx="5852160" cy="2487761"/>
          </a:xfrm>
          <a:prstGeom prst="rect">
            <a:avLst/>
          </a:prstGeom>
        </p:spPr>
      </p:pic>
      <p:sp>
        <p:nvSpPr>
          <p:cNvPr id="10" name="Content Placeholder 1">
            <a:extLst>
              <a:ext uri="{FF2B5EF4-FFF2-40B4-BE49-F238E27FC236}">
                <a16:creationId xmlns="" xmlns:a16="http://schemas.microsoft.com/office/drawing/2014/main" id="{8584788D-FCD1-410B-B6F9-B09795DCC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499361"/>
            <a:ext cx="4389120" cy="155448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min = 2.0T + R</a:t>
            </a:r>
          </a:p>
          <a:p>
            <a:r>
              <a:rPr lang="en-US" dirty="0"/>
              <a:t>B min = 3T + R</a:t>
            </a:r>
          </a:p>
          <a:p>
            <a:r>
              <a:rPr lang="en-US" dirty="0"/>
              <a:t>R min = 1.0T or 0.6 mm minimum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06152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Bend Radius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582007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3AACAD6-57D8-43D2-A3BD-F149B6E73CF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15840" y="2327938"/>
            <a:ext cx="6646152" cy="2425112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="" xmlns:a16="http://schemas.microsoft.com/office/drawing/2014/main" id="{22542C65-63E7-4F23-B1A8-4F48C024C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534" y="2514600"/>
            <a:ext cx="3732985" cy="201168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 min = 1.0T or 0.6 mm minimum</a:t>
            </a:r>
          </a:p>
          <a:p>
            <a:r>
              <a:rPr lang="en-US" dirty="0"/>
              <a:t>When required (only when using  low carbon steel </a:t>
            </a:r>
            <a:br>
              <a:rPr lang="en-US" dirty="0"/>
            </a:br>
            <a:r>
              <a:rPr lang="en-US" dirty="0"/>
              <a:t>R min =  0.5T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4413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Z Bends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76577" y="65547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B7AB600-2E8D-4B3D-91B5-BD319B2B2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6065" y="1337076"/>
            <a:ext cx="3714750" cy="11201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20A382E-B72F-4DF8-9608-A88AA2A4623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56070" y="3520440"/>
            <a:ext cx="3634740" cy="1257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AFAF6E5-2036-4774-829E-5D5A20761D8D}"/>
              </a:ext>
            </a:extLst>
          </p:cNvPr>
          <p:cNvSpPr txBox="1"/>
          <p:nvPr/>
        </p:nvSpPr>
        <p:spPr>
          <a:xfrm>
            <a:off x="5181600" y="1650806"/>
            <a:ext cx="108555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dirty="0"/>
              <a:t>H &lt;= 5T</a:t>
            </a:r>
          </a:p>
          <a:p>
            <a:r>
              <a:rPr lang="en-US" sz="2160" dirty="0"/>
              <a:t>R = 1.5T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4A600EC-688B-4062-8810-B260EB693FD2}"/>
              </a:ext>
            </a:extLst>
          </p:cNvPr>
          <p:cNvSpPr txBox="1"/>
          <p:nvPr/>
        </p:nvSpPr>
        <p:spPr>
          <a:xfrm>
            <a:off x="7924800" y="893878"/>
            <a:ext cx="1308563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dirty="0"/>
              <a:t>90° Offset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747C5D7-880D-4ED5-B154-5630429A461A}"/>
              </a:ext>
            </a:extLst>
          </p:cNvPr>
          <p:cNvSpPr txBox="1"/>
          <p:nvPr/>
        </p:nvSpPr>
        <p:spPr>
          <a:xfrm>
            <a:off x="7893870" y="3115961"/>
            <a:ext cx="1308563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dirty="0"/>
              <a:t>45° Offset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FFCE58D-9828-4526-BBB1-AF7D57E6F777}"/>
              </a:ext>
            </a:extLst>
          </p:cNvPr>
          <p:cNvSpPr txBox="1"/>
          <p:nvPr/>
        </p:nvSpPr>
        <p:spPr>
          <a:xfrm>
            <a:off x="5029634" y="3927491"/>
            <a:ext cx="139333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dirty="0"/>
              <a:t>R = 0.2mm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DDE98B65-B838-47FA-BE39-1FED7A2F1F3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57837" y="1768126"/>
            <a:ext cx="4017394" cy="26956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86109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Stamped Gussets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82440" y="65547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1A566EE-F2B8-4209-8629-A70E93A5B2E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58240" y="1897380"/>
            <a:ext cx="4572000" cy="3063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F0DAC06-87F7-4150-8779-8B0B04A4660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01690" y="1188720"/>
            <a:ext cx="38633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8371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92480" y="1510666"/>
            <a:ext cx="6035040" cy="48463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Used to hide burrs, not improve flatness</a:t>
            </a:r>
          </a:p>
          <a:p>
            <a:r>
              <a:rPr lang="en-US" dirty="0"/>
              <a:t>Operation requires multiple steps</a:t>
            </a:r>
          </a:p>
          <a:p>
            <a:r>
              <a:rPr lang="en-US" dirty="0"/>
              <a:t>Tear drop is most common</a:t>
            </a:r>
          </a:p>
          <a:p>
            <a:r>
              <a:rPr lang="en-US" dirty="0"/>
              <a:t>Minimum return flange height = 4T</a:t>
            </a:r>
          </a:p>
          <a:p>
            <a:r>
              <a:rPr lang="en-US" dirty="0"/>
              <a:t>Minimum distance from hole = 2T</a:t>
            </a:r>
          </a:p>
          <a:p>
            <a:r>
              <a:rPr lang="en-US" dirty="0"/>
              <a:t>Minimum distance from internal bend = 5T</a:t>
            </a:r>
          </a:p>
          <a:p>
            <a:r>
              <a:rPr lang="en-US" dirty="0"/>
              <a:t>Minimum distance from external bend = 8T</a:t>
            </a:r>
          </a:p>
          <a:p>
            <a:r>
              <a:rPr lang="en-US" dirty="0"/>
              <a:t>Flat hems tend to fracture and cause entrapment of fluids</a:t>
            </a:r>
          </a:p>
          <a:p>
            <a:endParaRPr lang="en-US" sz="168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Hems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583523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BAE288A-3D4A-4D39-BE19-DAD746AD432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21681" y="791208"/>
            <a:ext cx="4499238" cy="6291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367EBD7-A4E6-4C2C-AD03-39A630738B77}"/>
              </a:ext>
            </a:extLst>
          </p:cNvPr>
          <p:cNvSpPr txBox="1"/>
          <p:nvPr/>
        </p:nvSpPr>
        <p:spPr>
          <a:xfrm>
            <a:off x="7084835" y="5361456"/>
            <a:ext cx="173736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/>
              <a:t>Step 1, Acute angle bend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CEF4ABB-016E-4683-A7EA-F0455800D99C}"/>
              </a:ext>
            </a:extLst>
          </p:cNvPr>
          <p:cNvSpPr txBox="1"/>
          <p:nvPr/>
        </p:nvSpPr>
        <p:spPr>
          <a:xfrm>
            <a:off x="9387841" y="5361456"/>
            <a:ext cx="157751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80" dirty="0"/>
              <a:t>Step 2, flattening bar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2DEE9218-15EC-40C9-8E90-1ECD7C08422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18960" y="1983733"/>
            <a:ext cx="3840480" cy="3271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9227" y="5956663"/>
            <a:ext cx="5185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 in the soft tool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00059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92480" y="1510666"/>
            <a:ext cx="6309360" cy="48463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Minimum distance between extrusions = 6T</a:t>
            </a:r>
          </a:p>
          <a:p>
            <a:r>
              <a:rPr lang="en-US" dirty="0"/>
              <a:t>Minimum distance extruded hole to edge = 3T + 2R</a:t>
            </a:r>
          </a:p>
          <a:p>
            <a:r>
              <a:rPr lang="en-US" dirty="0"/>
              <a:t>Minimum distance extruded hole to a bend = 3T + R</a:t>
            </a:r>
          </a:p>
          <a:p>
            <a:r>
              <a:rPr lang="en-US" dirty="0"/>
              <a:t>Minimum extrusion height H should allow 4 threads of engagement (~80% strength achieved with 4 threads)</a:t>
            </a:r>
          </a:p>
          <a:p>
            <a:r>
              <a:rPr lang="en-US" dirty="0"/>
              <a:t>H = 2.0T – 2.5T  for a  M3 screw</a:t>
            </a:r>
          </a:p>
          <a:p>
            <a:r>
              <a:rPr lang="en-US" dirty="0"/>
              <a:t>H = 2.5T – 3.0T for a M4 screw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Extrusions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594116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0A4BE148-92B5-4C85-A541-48A6131EF5F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91141" y="1098804"/>
            <a:ext cx="4071937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95850" y="5793378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17803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07720" y="1089346"/>
            <a:ext cx="5212080" cy="43872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Round</a:t>
            </a:r>
          </a:p>
          <a:p>
            <a:pPr lvl="1"/>
            <a:r>
              <a:rPr lang="en-US" dirty="0"/>
              <a:t>Maximum height H = 3T</a:t>
            </a:r>
          </a:p>
          <a:p>
            <a:pPr lvl="1"/>
            <a:r>
              <a:rPr lang="en-US" dirty="0"/>
              <a:t>Minimum width W = 3T</a:t>
            </a:r>
          </a:p>
          <a:p>
            <a:r>
              <a:rPr lang="en-US" dirty="0"/>
              <a:t>V embossment</a:t>
            </a:r>
          </a:p>
          <a:p>
            <a:pPr lvl="1"/>
            <a:r>
              <a:rPr lang="en-US" dirty="0"/>
              <a:t>Maximum height H = 3T</a:t>
            </a:r>
          </a:p>
          <a:p>
            <a:pPr lvl="1"/>
            <a:r>
              <a:rPr lang="en-US" dirty="0"/>
              <a:t>Minimum width W = 3H</a:t>
            </a:r>
          </a:p>
          <a:p>
            <a:r>
              <a:rPr lang="en-US" dirty="0"/>
              <a:t>Flat</a:t>
            </a:r>
          </a:p>
          <a:p>
            <a:pPr lvl="1"/>
            <a:r>
              <a:rPr lang="en-US" dirty="0"/>
              <a:t>The maximum depth = internal radius plus the external radius</a:t>
            </a:r>
          </a:p>
          <a:p>
            <a:r>
              <a:rPr lang="en-US" dirty="0"/>
              <a:t>Minimum distance between parallel  embossments = 10T</a:t>
            </a:r>
          </a:p>
          <a:p>
            <a:r>
              <a:rPr lang="en-US" dirty="0"/>
              <a:t>Minimum distance to edge = 4T</a:t>
            </a:r>
          </a:p>
          <a:p>
            <a:r>
              <a:rPr lang="en-US" dirty="0"/>
              <a:t>Minimum distance to Hole = 3T</a:t>
            </a:r>
          </a:p>
          <a:p>
            <a:r>
              <a:rPr lang="en-US" dirty="0"/>
              <a:t>Minimum distance to Fold D = 4T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Embossments / Stiffing Rib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59739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396A7EC-BECE-4E00-883F-316E3B04BFD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74872" y="3704274"/>
            <a:ext cx="2673181" cy="24272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2394B68-DAE6-4BD8-83EF-B5845A8B79B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34866" y="849368"/>
            <a:ext cx="3137618" cy="2102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BA0FD1BE-A9E1-4D2C-80A6-1755923DF29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5736002" y="1812138"/>
            <a:ext cx="902880" cy="22842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19852C66-52B2-4640-ACA7-FD182BB0594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5856639" y="827666"/>
            <a:ext cx="669391" cy="22842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732626E-1531-4CBE-8F55-B762EA1DF654}"/>
              </a:ext>
            </a:extLst>
          </p:cNvPr>
          <p:cNvSpPr txBox="1"/>
          <p:nvPr/>
        </p:nvSpPr>
        <p:spPr>
          <a:xfrm>
            <a:off x="9272403" y="1022788"/>
            <a:ext cx="862544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0" dirty="0"/>
              <a:t>Round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BFCE92F7-1A9C-4608-AA6F-986487EDFED5}"/>
              </a:ext>
            </a:extLst>
          </p:cNvPr>
          <p:cNvSpPr txBox="1"/>
          <p:nvPr/>
        </p:nvSpPr>
        <p:spPr>
          <a:xfrm>
            <a:off x="9396939" y="3444002"/>
            <a:ext cx="862544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0" dirty="0"/>
              <a:t>Flat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9953" y="5512526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78556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92481" y="1510666"/>
            <a:ext cx="4503551" cy="33813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Minimum height H = 2T</a:t>
            </a:r>
          </a:p>
          <a:p>
            <a:r>
              <a:rPr lang="en-US" dirty="0"/>
              <a:t>Minimum distance between lance and fold  = 3T + R (R = inside bend radius)</a:t>
            </a:r>
          </a:p>
          <a:p>
            <a:r>
              <a:rPr lang="en-US" dirty="0"/>
              <a:t>Minimum distance between lance and Hole  = 3T</a:t>
            </a:r>
          </a:p>
          <a:p>
            <a:r>
              <a:rPr lang="en-US" dirty="0"/>
              <a:t>Minimum web distance between lances = 6T  </a:t>
            </a:r>
          </a:p>
          <a:p>
            <a:r>
              <a:rPr lang="en-US" dirty="0"/>
              <a:t>No bend relief required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2480" y="443102"/>
            <a:ext cx="1060704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Lance and 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9443E7-ECAE-6145-B5CC-B36F42CD8A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550212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Lucida Grande"/>
                <a:cs typeface="Lucida Grande"/>
              </a:rPr>
              <a:t>Amazon confidential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966F192-3053-46FA-AC8F-56558A54190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96031" y="1080972"/>
            <a:ext cx="5732146" cy="2274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1867C05-E32E-41B6-AC07-36184E35815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62653" y="3424813"/>
            <a:ext cx="2290652" cy="19316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E3C89F0E-442A-44EE-AADD-787650669FA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73165" y="3435726"/>
            <a:ext cx="2290652" cy="19151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108" y="5479869"/>
            <a:ext cx="518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Sanmina Guadalajara meets these guidelines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397356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1009</Words>
  <Application>Microsoft Office PowerPoint</Application>
  <PresentationFormat>Custom</PresentationFormat>
  <Paragraphs>207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Amazon Sheet Metal DFM Requirements</vt:lpstr>
      <vt:lpstr>Turret Press Process Capabilities</vt:lpstr>
      <vt:lpstr>Laser Cutting Press Process Capabilities</vt:lpstr>
      <vt:lpstr>Hand Brake Press Process Capabilities</vt:lpstr>
      <vt:lpstr>Progressive Tool Process Capabilities</vt:lpstr>
      <vt:lpstr>General Design Guidelines Checklist</vt:lpstr>
      <vt:lpstr>General Design Guidelines Checklist (cont.)</vt:lpstr>
      <vt:lpstr>Design Guidelines</vt:lpstr>
      <vt:lpstr>Design Guidelines</vt:lpstr>
      <vt:lpstr>Design Guidelines</vt:lpstr>
      <vt:lpstr>Bend Relief</vt:lpstr>
      <vt:lpstr>Hole Distance from Bend</vt:lpstr>
      <vt:lpstr>Bend Radius</vt:lpstr>
      <vt:lpstr>Z Bends</vt:lpstr>
      <vt:lpstr>Stamped Gussets</vt:lpstr>
      <vt:lpstr>Hems</vt:lpstr>
      <vt:lpstr>Extrusions</vt:lpstr>
      <vt:lpstr>Embossments / Stiffing Rib</vt:lpstr>
      <vt:lpstr>Lance and Form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Johnson, Bruce</dc:creator>
  <cp:lastModifiedBy>jarrett_pivarunas</cp:lastModifiedBy>
  <cp:revision>8</cp:revision>
  <dcterms:created xsi:type="dcterms:W3CDTF">2024-09-28T00:33:50Z</dcterms:created>
  <dcterms:modified xsi:type="dcterms:W3CDTF">2024-10-28T21:06:46Z</dcterms:modified>
</cp:coreProperties>
</file>