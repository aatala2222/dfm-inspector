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0" r:id="rId4"/>
    <p:sldId id="258" r:id="rId5"/>
    <p:sldId id="259" r:id="rId6"/>
    <p:sldId id="260" r:id="rId7"/>
    <p:sldId id="271" r:id="rId8"/>
    <p:sldId id="272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88952" cy="73152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DFM Inspector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FF9900"/>
                </a:solidFill>
                <a:latin typeface="Calibri"/>
              </a:rPr>
              <a:t>Automated Design for Manufacturability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CCCCC"/>
                </a:solidFill>
                <a:latin typeface="Calibri"/>
              </a:rPr>
              <a:t>Catch DFM violations before parts hit the shop floor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9900"/>
                </a:solidFill>
                <a:latin typeface="Calibri"/>
              </a:rPr>
              <a:t>Capabilities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is DFM Inspector?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88952" cy="5888736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32F3E"/>
                </a:solidFill>
                <a:latin typeface="Calibri"/>
              </a:rPr>
              <a:t>A web and CLI tool that analyzes 3D CAD models for manufacturability.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109728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dirty="0">
                <a:solidFill>
                  <a:srgbClr val="1F2937"/>
                </a:solidFill>
                <a:latin typeface="Calibri"/>
              </a:rPr>
              <a:t>• Loads native CAD geometry (STEP, IGES, STL) and inspects topology directly</a:t>
            </a:r>
          </a:p>
          <a:p>
            <a:pPr algn="l">
              <a:spcAft>
                <a:spcPts val="600"/>
              </a:spcAft>
            </a:pPr>
            <a:r>
              <a:rPr sz="1800" dirty="0">
                <a:solidFill>
                  <a:srgbClr val="1F2937"/>
                </a:solidFill>
                <a:latin typeface="Calibri"/>
              </a:rPr>
              <a:t>• Applies industry-standard DFM rules across multiple manufacturing processes</a:t>
            </a:r>
          </a:p>
          <a:p>
            <a:pPr algn="l">
              <a:spcAft>
                <a:spcPts val="600"/>
              </a:spcAft>
            </a:pPr>
            <a:r>
              <a:rPr sz="1800" dirty="0">
                <a:solidFill>
                  <a:srgbClr val="1F2937"/>
                </a:solidFill>
                <a:latin typeface="Calibri"/>
              </a:rPr>
              <a:t>• Uses ray-casting</a:t>
            </a:r>
            <a:r>
              <a:rPr lang="en-US" sz="1800" dirty="0">
                <a:solidFill>
                  <a:srgbClr val="1F2937"/>
                </a:solidFill>
                <a:latin typeface="Calibri"/>
              </a:rPr>
              <a:t> (used in computer graphics)</a:t>
            </a:r>
            <a:r>
              <a:rPr sz="1800" dirty="0">
                <a:solidFill>
                  <a:srgbClr val="1F2937"/>
                </a:solidFill>
                <a:latin typeface="Calibri"/>
              </a:rPr>
              <a:t> for accurate measurements rather than bounding-box estimates</a:t>
            </a:r>
          </a:p>
          <a:p>
            <a:pPr algn="l">
              <a:spcAft>
                <a:spcPts val="600"/>
              </a:spcAft>
            </a:pPr>
            <a:r>
              <a:rPr sz="1800" dirty="0">
                <a:solidFill>
                  <a:srgbClr val="1F2937"/>
                </a:solidFill>
                <a:latin typeface="Calibri"/>
              </a:rPr>
              <a:t>• Generates color-coded HTML, JSON, and Word reports with 3D renderings</a:t>
            </a:r>
          </a:p>
          <a:p>
            <a:pPr algn="l">
              <a:spcAft>
                <a:spcPts val="600"/>
              </a:spcAft>
            </a:pPr>
            <a:r>
              <a:rPr sz="1800" dirty="0">
                <a:solidFill>
                  <a:srgbClr val="1F2937"/>
                </a:solidFill>
                <a:latin typeface="Calibri"/>
              </a:rPr>
              <a:t>• Highlights violations with severity, location, and recommended fixes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2CD0C-A928-22F4-7D34-B4C3EAAE4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FC0EF4-9D9E-C550-29C3-FF113CE63DCC}"/>
              </a:ext>
            </a:extLst>
          </p:cNvPr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442994-2D3C-5869-F6B9-5D993147B35F}"/>
              </a:ext>
            </a:extLst>
          </p:cNvPr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4FD070-7CB2-60EF-67E0-B360AEEA73B1}"/>
              </a:ext>
            </a:extLst>
          </p:cNvPr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Capabilities at a Glance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697838-3CF1-FB9C-9A51-9C9F64A96518}"/>
              </a:ext>
            </a:extLst>
          </p:cNvPr>
          <p:cNvSpPr/>
          <p:nvPr/>
        </p:nvSpPr>
        <p:spPr>
          <a:xfrm>
            <a:off x="0" y="969264"/>
            <a:ext cx="12188952" cy="5888736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BDB7AD-7E3F-2AEF-0EF0-53DBBA0739B3}"/>
              </a:ext>
            </a:extLst>
          </p:cNvPr>
          <p:cNvSpPr/>
          <p:nvPr/>
        </p:nvSpPr>
        <p:spPr>
          <a:xfrm>
            <a:off x="457200" y="1188720"/>
            <a:ext cx="3657600" cy="246888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207AC0-7A53-B831-CBB3-69E17EC7AD84}"/>
              </a:ext>
            </a:extLst>
          </p:cNvPr>
          <p:cNvSpPr/>
          <p:nvPr/>
        </p:nvSpPr>
        <p:spPr>
          <a:xfrm>
            <a:off x="457200" y="1188720"/>
            <a:ext cx="91440" cy="24688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A24E99-EEAD-AC7B-7EBE-005AC988E2F0}"/>
              </a:ext>
            </a:extLst>
          </p:cNvPr>
          <p:cNvSpPr txBox="1"/>
          <p:nvPr/>
        </p:nvSpPr>
        <p:spPr>
          <a:xfrm>
            <a:off x="640080" y="132588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F3E"/>
                </a:solidFill>
                <a:latin typeface="Calibri"/>
              </a:rPr>
              <a:t>Multi-Format CAD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449CCC-EC50-A80A-0434-D3021165DDEF}"/>
              </a:ext>
            </a:extLst>
          </p:cNvPr>
          <p:cNvSpPr txBox="1"/>
          <p:nvPr/>
        </p:nvSpPr>
        <p:spPr>
          <a:xfrm>
            <a:off x="640080" y="169164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STEP / .stp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IGES / .igs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STL meshes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Auto unit detection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CC13F4-0AF2-04C5-0CA4-BBEFD70A0988}"/>
              </a:ext>
            </a:extLst>
          </p:cNvPr>
          <p:cNvSpPr/>
          <p:nvPr/>
        </p:nvSpPr>
        <p:spPr>
          <a:xfrm>
            <a:off x="4343400" y="1188720"/>
            <a:ext cx="3657600" cy="246888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1A5EBD-672F-F16C-CD78-1C88273DF7C4}"/>
              </a:ext>
            </a:extLst>
          </p:cNvPr>
          <p:cNvSpPr/>
          <p:nvPr/>
        </p:nvSpPr>
        <p:spPr>
          <a:xfrm>
            <a:off x="4343400" y="1188720"/>
            <a:ext cx="91440" cy="24688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1146E1-7940-874D-0FD8-5086B0FEC5B9}"/>
              </a:ext>
            </a:extLst>
          </p:cNvPr>
          <p:cNvSpPr txBox="1"/>
          <p:nvPr/>
        </p:nvSpPr>
        <p:spPr>
          <a:xfrm>
            <a:off x="4526280" y="132588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F3E"/>
                </a:solidFill>
                <a:latin typeface="Calibri"/>
              </a:rPr>
              <a:t>General DFM Checks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1A5FA9-4D30-848F-9F99-934D09112305}"/>
              </a:ext>
            </a:extLst>
          </p:cNvPr>
          <p:cNvSpPr txBox="1"/>
          <p:nvPr/>
        </p:nvSpPr>
        <p:spPr>
          <a:xfrm>
            <a:off x="4526280" y="169164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Wall thickness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Draft angles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Undercuts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Corner radii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Ribs and bosses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Tolerances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35CC9F-D197-5443-4A5D-457E89471F64}"/>
              </a:ext>
            </a:extLst>
          </p:cNvPr>
          <p:cNvSpPr/>
          <p:nvPr/>
        </p:nvSpPr>
        <p:spPr>
          <a:xfrm>
            <a:off x="8229600" y="1188720"/>
            <a:ext cx="3657600" cy="246888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297B84F-502A-FF8E-F38A-70B4B5EBBAB2}"/>
              </a:ext>
            </a:extLst>
          </p:cNvPr>
          <p:cNvSpPr/>
          <p:nvPr/>
        </p:nvSpPr>
        <p:spPr>
          <a:xfrm>
            <a:off x="8229600" y="1188720"/>
            <a:ext cx="91440" cy="24688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9A036A-7CC9-217E-51DA-B176987E0489}"/>
              </a:ext>
            </a:extLst>
          </p:cNvPr>
          <p:cNvSpPr txBox="1"/>
          <p:nvPr/>
        </p:nvSpPr>
        <p:spPr>
          <a:xfrm>
            <a:off x="8412480" y="132588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F3E"/>
                </a:solidFill>
                <a:latin typeface="Calibri"/>
              </a:rPr>
              <a:t>Welding DFM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CF8AE1-FDF7-EB7E-3DDE-EEDA7385566C}"/>
              </a:ext>
            </a:extLst>
          </p:cNvPr>
          <p:cNvSpPr txBox="1"/>
          <p:nvPr/>
        </p:nvSpPr>
        <p:spPr>
          <a:xfrm>
            <a:off x="8412480" y="169164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AWS D1.1 / D1.2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AWS D1.3 / D1.6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Groove and skewed joints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Filler material recs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7FA24F-7C14-A731-8EB5-53CA7CDC0D34}"/>
              </a:ext>
            </a:extLst>
          </p:cNvPr>
          <p:cNvSpPr/>
          <p:nvPr/>
        </p:nvSpPr>
        <p:spPr>
          <a:xfrm>
            <a:off x="457200" y="3886200"/>
            <a:ext cx="3657600" cy="246888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414A7D-E798-8944-D229-BE674179C6EC}"/>
              </a:ext>
            </a:extLst>
          </p:cNvPr>
          <p:cNvSpPr/>
          <p:nvPr/>
        </p:nvSpPr>
        <p:spPr>
          <a:xfrm>
            <a:off x="457200" y="3886200"/>
            <a:ext cx="91440" cy="24688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53CD53-2003-A4A9-1630-A764C408A22E}"/>
              </a:ext>
            </a:extLst>
          </p:cNvPr>
          <p:cNvSpPr txBox="1"/>
          <p:nvPr/>
        </p:nvSpPr>
        <p:spPr>
          <a:xfrm>
            <a:off x="640080" y="402336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F3E"/>
                </a:solidFill>
                <a:latin typeface="Calibri"/>
              </a:rPr>
              <a:t>Process-Specific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8B0ACE-B5B3-DA69-89C6-6D11621C3C6D}"/>
              </a:ext>
            </a:extLst>
          </p:cNvPr>
          <p:cNvSpPr txBox="1"/>
          <p:nvPr/>
        </p:nvSpPr>
        <p:spPr>
          <a:xfrm>
            <a:off x="640080" y="438912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CNC machining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Sheet metal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Injection molding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Process-tuned thresholds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68D5879-FAA4-2506-9C09-EBEBE1D9A9EB}"/>
              </a:ext>
            </a:extLst>
          </p:cNvPr>
          <p:cNvSpPr/>
          <p:nvPr/>
        </p:nvSpPr>
        <p:spPr>
          <a:xfrm>
            <a:off x="4343400" y="3886200"/>
            <a:ext cx="3657600" cy="246888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0ADA1F6-F142-92F2-713C-37F671E6F6A9}"/>
              </a:ext>
            </a:extLst>
          </p:cNvPr>
          <p:cNvSpPr/>
          <p:nvPr/>
        </p:nvSpPr>
        <p:spPr>
          <a:xfrm>
            <a:off x="4343400" y="3886200"/>
            <a:ext cx="91440" cy="24688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E38A57-B272-EFC5-3FAE-C7D23BEBD296}"/>
              </a:ext>
            </a:extLst>
          </p:cNvPr>
          <p:cNvSpPr txBox="1"/>
          <p:nvPr/>
        </p:nvSpPr>
        <p:spPr>
          <a:xfrm>
            <a:off x="4526280" y="402336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F3E"/>
                </a:solidFill>
                <a:latin typeface="Calibri"/>
              </a:rPr>
              <a:t>Feature Detection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E432FF-242B-CAE9-242F-CB9E628468FD}"/>
              </a:ext>
            </a:extLst>
          </p:cNvPr>
          <p:cNvSpPr txBox="1"/>
          <p:nvPr/>
        </p:nvSpPr>
        <p:spPr>
          <a:xfrm>
            <a:off x="4526280" y="438912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Holes (dia, depth)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Bends (angle, radius)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Pockets and corners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Spatial proximity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FCD33FB-6D43-3E08-0775-CC1DF4F3ECB6}"/>
              </a:ext>
            </a:extLst>
          </p:cNvPr>
          <p:cNvSpPr/>
          <p:nvPr/>
        </p:nvSpPr>
        <p:spPr>
          <a:xfrm>
            <a:off x="8229600" y="3886200"/>
            <a:ext cx="3657600" cy="246888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8D2CC57-6B12-ECFB-F51A-0A54FB23EB15}"/>
              </a:ext>
            </a:extLst>
          </p:cNvPr>
          <p:cNvSpPr/>
          <p:nvPr/>
        </p:nvSpPr>
        <p:spPr>
          <a:xfrm>
            <a:off x="8229600" y="3886200"/>
            <a:ext cx="91440" cy="24688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9E25ED-86CC-69BF-EE8D-08A66C1DDE57}"/>
              </a:ext>
            </a:extLst>
          </p:cNvPr>
          <p:cNvSpPr txBox="1"/>
          <p:nvPr/>
        </p:nvSpPr>
        <p:spPr>
          <a:xfrm>
            <a:off x="8412480" y="402336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F3E"/>
                </a:solidFill>
                <a:latin typeface="Calibri"/>
              </a:rPr>
              <a:t>Reporting and Visuals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537674-3D5F-4304-F276-12308C2F03FA}"/>
              </a:ext>
            </a:extLst>
          </p:cNvPr>
          <p:cNvSpPr txBox="1"/>
          <p:nvPr/>
        </p:nvSpPr>
        <p:spPr>
          <a:xfrm>
            <a:off x="8412480" y="438912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HTML interactive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JSON for tooling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Word with 3D renders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Severity color coding</a:t>
            </a:r>
          </a:p>
        </p:txBody>
      </p:sp>
    </p:spTree>
    <p:extLst>
      <p:ext uri="{BB962C8B-B14F-4D97-AF65-F5344CB8AC3E}">
        <p14:creationId xmlns:p14="http://schemas.microsoft.com/office/powerpoint/2010/main" val="2350888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600" b="1" dirty="0">
                <a:solidFill>
                  <a:srgbClr val="FFFFFF"/>
                </a:solidFill>
                <a:latin typeface="Calibri"/>
              </a:rPr>
              <a:t>The Engine Under the Hood</a:t>
            </a:r>
            <a:endParaRPr sz="26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466576" cy="55321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91440" cy="24688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33832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500" b="1" dirty="0">
                <a:solidFill>
                  <a:srgbClr val="232F3E"/>
                </a:solidFill>
                <a:latin typeface="Calibri"/>
              </a:rPr>
              <a:t>Design Guidelines Documents</a:t>
            </a:r>
            <a:endParaRPr sz="1500" b="1" dirty="0">
              <a:solidFill>
                <a:srgbClr val="232F3E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7269480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1F2937"/>
                </a:solidFill>
              </a:rPr>
              <a:t>930-00163_R01 DESIGN GUIDELINE, INTEGRAL SKIN PU FOAM MOLDING</a:t>
            </a:r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930-00164_R01 DESIGN GUIDELINE, THERMOPLASTIC INJECTION MOLDING</a:t>
            </a:r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930-00166_R01 DESIGN GUIDELINE, HIGH PRESSURE DIE CAST AND GRAVITY CAST PERMANENT MOLD</a:t>
            </a:r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930-00172_R01 DESIGN GUIDELINE, SHEET METAL</a:t>
            </a:r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960-0075_R11 ENGINEERING DRAWING STANDARDS</a:t>
            </a:r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960-0075-01_R03 ENGINEERING DRAWING STANDARDS, SOLIDWORKS TEMPLATE LAYERS</a:t>
            </a:r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960-00169_R01 DESIGN GUIDELINE, WELDMENTS</a:t>
            </a:r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1F2937"/>
                </a:solidFill>
              </a:rPr>
              <a:t>960-00207_r02 AMAZON ROBOTICS WELDING REQUIREMENTS</a:t>
            </a:r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Amazon Sheet Metal DFM Requirements for Verification </a:t>
            </a:r>
          </a:p>
          <a:p>
            <a:pPr>
              <a:spcAft>
                <a:spcPts val="300"/>
              </a:spcAft>
            </a:pPr>
            <a:r>
              <a:rPr lang="en-US" sz="1200" dirty="0" err="1">
                <a:solidFill>
                  <a:srgbClr val="1F2937"/>
                </a:solidFill>
                <a:latin typeface="Calibri"/>
              </a:rPr>
              <a:t>CNC_Machining_DFM_Guidelines</a:t>
            </a:r>
            <a:endParaRPr lang="en-US" sz="1200" dirty="0">
              <a:solidFill>
                <a:srgbClr val="1F2937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Injection Molding Process next level &amp; Mold Val. Eng. Tech. Rev</a:t>
            </a:r>
          </a:p>
          <a:p>
            <a:pPr>
              <a:spcAft>
                <a:spcPts val="300"/>
              </a:spcAft>
            </a:pPr>
            <a:r>
              <a:rPr lang="en-US" sz="1200" dirty="0" err="1">
                <a:solidFill>
                  <a:srgbClr val="1F2937"/>
                </a:solidFill>
                <a:latin typeface="Calibri"/>
              </a:rPr>
              <a:t>MachinerysHandbkOBERG</a:t>
            </a:r>
            <a:endParaRPr lang="en-US" sz="1200" dirty="0">
              <a:solidFill>
                <a:srgbClr val="1F2937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lang="en-US" sz="1200" dirty="0" err="1">
                <a:solidFill>
                  <a:srgbClr val="1F2937"/>
                </a:solidFill>
                <a:latin typeface="Calibri"/>
              </a:rPr>
              <a:t>Roll_Forming_Tolerances</a:t>
            </a:r>
            <a:endParaRPr lang="en-US" sz="1200" dirty="0">
              <a:solidFill>
                <a:srgbClr val="1F2937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1F2937"/>
                </a:solidFill>
              </a:rPr>
              <a:t>Injection Molding Qualifications</a:t>
            </a:r>
            <a:endParaRPr lang="en-US" sz="1200" dirty="0">
              <a:solidFill>
                <a:srgbClr val="1F2937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endParaRPr sz="1200" dirty="0">
              <a:solidFill>
                <a:srgbClr val="1F2937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Supported CAD Formats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Native B-Rep parsing for accurate geometry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9264"/>
            <a:ext cx="12188952" cy="5888736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1097280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137160" cy="146304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417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32F3E"/>
                </a:solidFill>
                <a:latin typeface="Calibri"/>
              </a:rPr>
              <a:t>STEP (.step / .stp)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Industry-standard CAD exchange format. Full B-Rep topology preserved, ideal for machining and assemblies.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1097280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2971800"/>
            <a:ext cx="137160" cy="146304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32F3E"/>
                </a:solidFill>
                <a:latin typeface="Calibri"/>
              </a:rPr>
              <a:t>IGES (.iges / .igs)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11880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Legacy CAD exchange format still common from older systems. Surface and solid geometry supported.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663440"/>
            <a:ext cx="1097280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4663440"/>
            <a:ext cx="137160" cy="146304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800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32F3E"/>
                </a:solidFill>
                <a:latin typeface="Calibri"/>
              </a:rPr>
              <a:t>STL (.stl)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03520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Mesh format for 3D printing and quick visualization. Faster loading, lower geometric fidelity.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General DFM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Standard manufacturing rules applied automatically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9264"/>
            <a:ext cx="12188952" cy="5888736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18872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8457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What it catches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Why it matters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Wall thickness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Too thin / too thick / non-uniform walls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Prevents warping, sink marks, blow-out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Draft angles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Insufficient draft for mold release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Enables clean part ejection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Undercuts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Geometry that traps the part in the mold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Avoids costly side 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Corner radius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Sharp internal corners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Reduces stress concentration, tool wear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Ribs and bosses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Disproportioned reinforcement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Prevents sink and short-shots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845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Tolerances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Unrealistically tight tolerances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Controls manufacturing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93"/>
            <a:ext cx="12188520" cy="319957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3" name="TextBox 2"/>
          <p:cNvSpPr txBox="1"/>
          <p:nvPr/>
        </p:nvSpPr>
        <p:spPr>
          <a:xfrm>
            <a:off x="457080" y="412266"/>
            <a:ext cx="11244191" cy="553726"/>
          </a:xfrm>
          <a:prstGeom prst="rect">
            <a:avLst/>
          </a:prstGeom>
          <a:noFill/>
        </p:spPr>
        <p:txBody>
          <a:bodyPr wrap="square" lIns="73133" rIns="73133" anchor="t">
            <a:spAutoFit/>
          </a:bodyPr>
          <a:lstStyle/>
          <a:p>
            <a:pPr algn="l"/>
            <a:r>
              <a:rPr sz="2999" b="1" dirty="0">
                <a:solidFill>
                  <a:srgbClr val="111827"/>
                </a:solidFill>
                <a:latin typeface="Calibri"/>
              </a:rPr>
              <a:t>From Kiro to </a:t>
            </a:r>
            <a:r>
              <a:rPr sz="2999" b="1" dirty="0" err="1">
                <a:solidFill>
                  <a:srgbClr val="111827"/>
                </a:solidFill>
                <a:latin typeface="Calibri"/>
              </a:rPr>
              <a:t>AgentSpace</a:t>
            </a:r>
            <a:endParaRPr sz="2999" b="1" dirty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080" y="1024754"/>
            <a:ext cx="1279827" cy="45708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5" name="TextBox 4"/>
          <p:cNvSpPr txBox="1"/>
          <p:nvPr/>
        </p:nvSpPr>
        <p:spPr>
          <a:xfrm>
            <a:off x="457080" y="1116171"/>
            <a:ext cx="11244191" cy="307697"/>
          </a:xfrm>
          <a:prstGeom prst="rect">
            <a:avLst/>
          </a:prstGeom>
          <a:noFill/>
        </p:spPr>
        <p:txBody>
          <a:bodyPr wrap="square" lIns="73133" rIns="73133" anchor="t">
            <a:spAutoFit/>
          </a:bodyPr>
          <a:lstStyle/>
          <a:p>
            <a:pPr algn="l"/>
            <a:r>
              <a:rPr sz="1400">
                <a:solidFill>
                  <a:srgbClr val="4B5563"/>
                </a:solidFill>
                <a:latin typeface="Calibri"/>
              </a:rPr>
              <a:t>Five-stage pipeline: code generation to team release</a:t>
            </a:r>
          </a:p>
        </p:txBody>
      </p:sp>
      <p:sp>
        <p:nvSpPr>
          <p:cNvPr id="6" name="Oval 5"/>
          <p:cNvSpPr/>
          <p:nvPr/>
        </p:nvSpPr>
        <p:spPr>
          <a:xfrm>
            <a:off x="1179268" y="1417844"/>
            <a:ext cx="548497" cy="548497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33" rIns="73133" rtlCol="0" anchor="ctr"/>
          <a:lstStyle/>
          <a:p>
            <a:pPr algn="ctr"/>
            <a:r>
              <a:rPr sz="2199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080" y="1692092"/>
            <a:ext cx="1992873" cy="3656648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8" name="Rectangle 7"/>
          <p:cNvSpPr/>
          <p:nvPr/>
        </p:nvSpPr>
        <p:spPr>
          <a:xfrm>
            <a:off x="457081" y="1692092"/>
            <a:ext cx="91416" cy="36566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9" name="TextBox 8"/>
          <p:cNvSpPr txBox="1"/>
          <p:nvPr/>
        </p:nvSpPr>
        <p:spPr>
          <a:xfrm>
            <a:off x="594205" y="2194881"/>
            <a:ext cx="1764332" cy="369108"/>
          </a:xfrm>
          <a:prstGeom prst="rect">
            <a:avLst/>
          </a:prstGeom>
          <a:noFill/>
        </p:spPr>
        <p:txBody>
          <a:bodyPr wrap="square" lIns="73133" rIns="73133" anchor="t">
            <a:spAutoFit/>
          </a:bodyPr>
          <a:lstStyle/>
          <a:p>
            <a:pPr algn="ctr"/>
            <a:r>
              <a:rPr sz="1799" b="1">
                <a:solidFill>
                  <a:srgbClr val="111827"/>
                </a:solidFill>
                <a:latin typeface="Calibri"/>
              </a:rPr>
              <a:t>Generate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205" y="2651962"/>
            <a:ext cx="1764332" cy="292312"/>
          </a:xfrm>
          <a:prstGeom prst="rect">
            <a:avLst/>
          </a:prstGeom>
          <a:noFill/>
        </p:spPr>
        <p:txBody>
          <a:bodyPr wrap="square" lIns="73133" rIns="73133" anchor="t">
            <a:spAutoFit/>
          </a:bodyPr>
          <a:lstStyle/>
          <a:p>
            <a:pPr algn="ctr"/>
            <a:r>
              <a:rPr sz="1300" b="1">
                <a:solidFill>
                  <a:srgbClr val="3B82F6"/>
                </a:solidFill>
                <a:latin typeface="Calibri"/>
              </a:rPr>
              <a:t>Kiro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913" y="3154751"/>
            <a:ext cx="1627208" cy="600008"/>
          </a:xfrm>
          <a:prstGeom prst="rect">
            <a:avLst/>
          </a:prstGeom>
          <a:noFill/>
        </p:spPr>
        <p:txBody>
          <a:bodyPr wrap="square" lIns="73133" rIns="73133" anchor="t">
            <a:spAutoFit/>
          </a:bodyPr>
          <a:lstStyle/>
          <a:p>
            <a:pPr algn="ctr"/>
            <a:r>
              <a:rPr sz="1100">
                <a:solidFill>
                  <a:srgbClr val="4B5563"/>
                </a:solidFill>
                <a:latin typeface="Calibri"/>
              </a:rPr>
              <a:t>AI generates Python app from spec (requirements -&gt; design -&gt; tasks)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603" y="4800243"/>
            <a:ext cx="1279827" cy="365665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33" rIns="73133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Hours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468237" y="3383292"/>
            <a:ext cx="283390" cy="274249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14" name="Oval 13"/>
          <p:cNvSpPr/>
          <p:nvPr/>
        </p:nvSpPr>
        <p:spPr>
          <a:xfrm>
            <a:off x="3492098" y="1417844"/>
            <a:ext cx="548497" cy="548497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33" rIns="73133" rtlCol="0" anchor="ctr"/>
          <a:lstStyle/>
          <a:p>
            <a:pPr algn="ctr"/>
            <a:r>
              <a:rPr sz="2199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69910" y="1692092"/>
            <a:ext cx="1992873" cy="3656648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16" name="Rectangle 15"/>
          <p:cNvSpPr/>
          <p:nvPr/>
        </p:nvSpPr>
        <p:spPr>
          <a:xfrm>
            <a:off x="2769910" y="1692092"/>
            <a:ext cx="91416" cy="36566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17" name="TextBox 16"/>
          <p:cNvSpPr txBox="1"/>
          <p:nvPr/>
        </p:nvSpPr>
        <p:spPr>
          <a:xfrm>
            <a:off x="2907034" y="2194881"/>
            <a:ext cx="1764332" cy="369108"/>
          </a:xfrm>
          <a:prstGeom prst="rect">
            <a:avLst/>
          </a:prstGeom>
          <a:noFill/>
        </p:spPr>
        <p:txBody>
          <a:bodyPr wrap="square" lIns="73133" rIns="73133" anchor="t">
            <a:spAutoFit/>
          </a:bodyPr>
          <a:lstStyle/>
          <a:p>
            <a:pPr algn="ctr"/>
            <a:r>
              <a:rPr sz="1799" b="1">
                <a:solidFill>
                  <a:srgbClr val="111827"/>
                </a:solidFill>
                <a:latin typeface="Calibri"/>
              </a:rPr>
              <a:t>Run Local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7034" y="2651962"/>
            <a:ext cx="1764332" cy="292312"/>
          </a:xfrm>
          <a:prstGeom prst="rect">
            <a:avLst/>
          </a:prstGeom>
          <a:noFill/>
        </p:spPr>
        <p:txBody>
          <a:bodyPr wrap="square" lIns="73133" rIns="73133" anchor="t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Calibri"/>
              </a:rPr>
              <a:t>Localhost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52742" y="3154751"/>
            <a:ext cx="1627208" cy="600008"/>
          </a:xfrm>
          <a:prstGeom prst="rect">
            <a:avLst/>
          </a:prstGeom>
          <a:noFill/>
        </p:spPr>
        <p:txBody>
          <a:bodyPr wrap="square" lIns="73133" rIns="73133" anchor="t">
            <a:spAutoFit/>
          </a:bodyPr>
          <a:lstStyle/>
          <a:p>
            <a:pPr algn="ctr"/>
            <a:r>
              <a:rPr sz="1100">
                <a:solidFill>
                  <a:srgbClr val="4B5563"/>
                </a:solidFill>
                <a:latin typeface="Calibri"/>
              </a:rPr>
              <a:t>pip install + python app.py -&gt; Flask on port 5000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26433" y="4800243"/>
            <a:ext cx="1279827" cy="365665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33" rIns="73133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Hours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781066" y="3383292"/>
            <a:ext cx="283390" cy="274249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22" name="Oval 21"/>
          <p:cNvSpPr/>
          <p:nvPr/>
        </p:nvSpPr>
        <p:spPr>
          <a:xfrm>
            <a:off x="5804927" y="1417844"/>
            <a:ext cx="548497" cy="548497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33" rIns="73133" rtlCol="0" anchor="ctr"/>
          <a:lstStyle/>
          <a:p>
            <a:pPr algn="ctr"/>
            <a:r>
              <a:rPr sz="2199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82739" y="1692092"/>
            <a:ext cx="1992873" cy="3656648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24" name="Rectangle 23"/>
          <p:cNvSpPr/>
          <p:nvPr/>
        </p:nvSpPr>
        <p:spPr>
          <a:xfrm>
            <a:off x="5082740" y="1692092"/>
            <a:ext cx="91416" cy="36566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25" name="TextBox 24"/>
          <p:cNvSpPr txBox="1"/>
          <p:nvPr/>
        </p:nvSpPr>
        <p:spPr>
          <a:xfrm>
            <a:off x="5219864" y="2194881"/>
            <a:ext cx="1764332" cy="369108"/>
          </a:xfrm>
          <a:prstGeom prst="rect">
            <a:avLst/>
          </a:prstGeom>
          <a:noFill/>
        </p:spPr>
        <p:txBody>
          <a:bodyPr wrap="square" lIns="73133" rIns="73133" anchor="t">
            <a:spAutoFit/>
          </a:bodyPr>
          <a:lstStyle/>
          <a:p>
            <a:pPr algn="ctr"/>
            <a:r>
              <a:rPr sz="1799" b="1">
                <a:solidFill>
                  <a:srgbClr val="111827"/>
                </a:solidFill>
                <a:latin typeface="Calibri"/>
              </a:rPr>
              <a:t>Back 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9864" y="2651962"/>
            <a:ext cx="1764332" cy="292312"/>
          </a:xfrm>
          <a:prstGeom prst="rect">
            <a:avLst/>
          </a:prstGeom>
          <a:noFill/>
        </p:spPr>
        <p:txBody>
          <a:bodyPr wrap="square" lIns="73133" rIns="73133" anchor="t">
            <a:spAutoFit/>
          </a:bodyPr>
          <a:lstStyle/>
          <a:p>
            <a:pPr algn="ctr"/>
            <a:r>
              <a:rPr sz="1300" b="1">
                <a:solidFill>
                  <a:srgbClr val="EF4444"/>
                </a:solidFill>
                <a:latin typeface="Calibri"/>
              </a:rPr>
              <a:t>code.amazon.com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65572" y="3154751"/>
            <a:ext cx="1627208" cy="600008"/>
          </a:xfrm>
          <a:prstGeom prst="rect">
            <a:avLst/>
          </a:prstGeom>
          <a:noFill/>
        </p:spPr>
        <p:txBody>
          <a:bodyPr wrap="square" lIns="73133" rIns="73133" anchor="t">
            <a:spAutoFit/>
          </a:bodyPr>
          <a:lstStyle/>
          <a:p>
            <a:pPr algn="ctr"/>
            <a:r>
              <a:rPr sz="1100">
                <a:solidFill>
                  <a:srgbClr val="4B5563"/>
                </a:solidFill>
                <a:latin typeface="Calibri"/>
              </a:rPr>
              <a:t>VPN + mwinit, push to feature branch (never mainline)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39262" y="4800243"/>
            <a:ext cx="1279827" cy="365665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33" rIns="73133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~1 hour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093896" y="3383292"/>
            <a:ext cx="283390" cy="274249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30" name="Oval 29"/>
          <p:cNvSpPr/>
          <p:nvPr/>
        </p:nvSpPr>
        <p:spPr>
          <a:xfrm>
            <a:off x="8117756" y="1417844"/>
            <a:ext cx="548497" cy="548497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33" rIns="73133" rtlCol="0" anchor="ctr"/>
          <a:lstStyle/>
          <a:p>
            <a:pPr algn="ctr"/>
            <a:r>
              <a:rPr sz="2199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95569" y="1692092"/>
            <a:ext cx="1992873" cy="3656648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32" name="Rectangle 31"/>
          <p:cNvSpPr/>
          <p:nvPr/>
        </p:nvSpPr>
        <p:spPr>
          <a:xfrm>
            <a:off x="7395569" y="1692092"/>
            <a:ext cx="91416" cy="36566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33" name="TextBox 32"/>
          <p:cNvSpPr txBox="1"/>
          <p:nvPr/>
        </p:nvSpPr>
        <p:spPr>
          <a:xfrm>
            <a:off x="7532694" y="2194881"/>
            <a:ext cx="1764332" cy="369108"/>
          </a:xfrm>
          <a:prstGeom prst="rect">
            <a:avLst/>
          </a:prstGeom>
          <a:noFill/>
        </p:spPr>
        <p:txBody>
          <a:bodyPr wrap="square" lIns="73133" rIns="73133" anchor="t">
            <a:spAutoFit/>
          </a:bodyPr>
          <a:lstStyle/>
          <a:p>
            <a:pPr algn="ctr"/>
            <a:r>
              <a:rPr sz="1799" b="1">
                <a:solidFill>
                  <a:srgbClr val="111827"/>
                </a:solidFill>
                <a:latin typeface="Calibri"/>
              </a:rPr>
              <a:t>Review &amp; Merge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32694" y="2651962"/>
            <a:ext cx="1764332" cy="292312"/>
          </a:xfrm>
          <a:prstGeom prst="rect">
            <a:avLst/>
          </a:prstGeom>
          <a:noFill/>
        </p:spPr>
        <p:txBody>
          <a:bodyPr wrap="square" lIns="73133" rIns="73133" anchor="t">
            <a:spAutoFit/>
          </a:bodyPr>
          <a:lstStyle/>
          <a:p>
            <a:pPr algn="ctr"/>
            <a:r>
              <a:rPr sz="1300" b="1">
                <a:solidFill>
                  <a:srgbClr val="8B5CF6"/>
                </a:solidFill>
                <a:latin typeface="Calibri"/>
              </a:rPr>
              <a:t>CRUX (cr CLI)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78401" y="3154752"/>
            <a:ext cx="1627208" cy="430775"/>
          </a:xfrm>
          <a:prstGeom prst="rect">
            <a:avLst/>
          </a:prstGeom>
          <a:noFill/>
        </p:spPr>
        <p:txBody>
          <a:bodyPr wrap="square" lIns="73133" rIns="73133" anchor="t">
            <a:spAutoFit/>
          </a:bodyPr>
          <a:lstStyle/>
          <a:p>
            <a:pPr algn="ctr"/>
            <a:r>
              <a:rPr sz="1100">
                <a:solidFill>
                  <a:srgbClr val="4B5563"/>
                </a:solidFill>
                <a:latin typeface="Calibri"/>
              </a:rPr>
              <a:t>Cloud Desktop runs cr to merge into mainline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52092" y="4800243"/>
            <a:ext cx="1279827" cy="365665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33" rIns="73133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~1 day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406725" y="3383292"/>
            <a:ext cx="283390" cy="274249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38" name="Oval 37"/>
          <p:cNvSpPr/>
          <p:nvPr/>
        </p:nvSpPr>
        <p:spPr>
          <a:xfrm>
            <a:off x="10430587" y="1417844"/>
            <a:ext cx="548497" cy="548497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33" rIns="73133" rtlCol="0" anchor="ctr"/>
          <a:lstStyle/>
          <a:p>
            <a:pPr algn="ctr"/>
            <a:r>
              <a:rPr sz="2199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08399" y="1692092"/>
            <a:ext cx="1992873" cy="3656648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40" name="Rectangle 39"/>
          <p:cNvSpPr/>
          <p:nvPr/>
        </p:nvSpPr>
        <p:spPr>
          <a:xfrm>
            <a:off x="9708399" y="1692092"/>
            <a:ext cx="91416" cy="3656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41" name="TextBox 40"/>
          <p:cNvSpPr txBox="1"/>
          <p:nvPr/>
        </p:nvSpPr>
        <p:spPr>
          <a:xfrm>
            <a:off x="9845523" y="2194881"/>
            <a:ext cx="1764332" cy="369108"/>
          </a:xfrm>
          <a:prstGeom prst="rect">
            <a:avLst/>
          </a:prstGeom>
          <a:noFill/>
        </p:spPr>
        <p:txBody>
          <a:bodyPr wrap="square" lIns="73133" rIns="73133" anchor="t">
            <a:spAutoFit/>
          </a:bodyPr>
          <a:lstStyle/>
          <a:p>
            <a:pPr algn="ctr"/>
            <a:r>
              <a:rPr sz="1799" b="1">
                <a:solidFill>
                  <a:srgbClr val="111827"/>
                </a:solidFill>
                <a:latin typeface="Calibri"/>
              </a:rPr>
              <a:t>Release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45523" y="2651962"/>
            <a:ext cx="1764332" cy="292312"/>
          </a:xfrm>
          <a:prstGeom prst="rect">
            <a:avLst/>
          </a:prstGeom>
          <a:noFill/>
        </p:spPr>
        <p:txBody>
          <a:bodyPr wrap="square" lIns="73133" rIns="73133" anchor="t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Calibri"/>
              </a:rPr>
              <a:t>AgentSpace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91231" y="3154751"/>
            <a:ext cx="1627208" cy="600008"/>
          </a:xfrm>
          <a:prstGeom prst="rect">
            <a:avLst/>
          </a:prstGeom>
          <a:noFill/>
        </p:spPr>
        <p:txBody>
          <a:bodyPr wrap="square" lIns="73133" rIns="73133" anchor="t">
            <a:spAutoFit/>
          </a:bodyPr>
          <a:lstStyle/>
          <a:p>
            <a:pPr algn="ctr"/>
            <a:r>
              <a:rPr sz="1100">
                <a:solidFill>
                  <a:srgbClr val="4B5563"/>
                </a:solidFill>
                <a:latin typeface="Calibri"/>
              </a:rPr>
              <a:t>Upload rules MD, generate HTML dashboard, share URL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064922" y="4800243"/>
            <a:ext cx="1279827" cy="365665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33" rIns="73133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~1 hour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080" y="5851529"/>
            <a:ext cx="11244191" cy="639913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46" name="Rectangle 45"/>
          <p:cNvSpPr/>
          <p:nvPr/>
        </p:nvSpPr>
        <p:spPr>
          <a:xfrm>
            <a:off x="457081" y="5851529"/>
            <a:ext cx="91416" cy="63991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47" name="TextBox 46"/>
          <p:cNvSpPr txBox="1"/>
          <p:nvPr/>
        </p:nvSpPr>
        <p:spPr>
          <a:xfrm>
            <a:off x="685621" y="5897237"/>
            <a:ext cx="10969943" cy="292312"/>
          </a:xfrm>
          <a:prstGeom prst="rect">
            <a:avLst/>
          </a:prstGeom>
          <a:noFill/>
        </p:spPr>
        <p:txBody>
          <a:bodyPr wrap="square" lIns="73133" rIns="73133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Calibri"/>
              </a:rPr>
              <a:t>Minimum viable path: </a:t>
            </a:r>
            <a:r>
              <a:rPr sz="1300">
                <a:solidFill>
                  <a:srgbClr val="111827"/>
                </a:solidFill>
                <a:latin typeface="Calibri"/>
              </a:rPr>
              <a:t>stages 1, 2, and 5 in a single day. Stages 3 and 4 are required only when the live app needs pipeline-based deployment.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93"/>
            <a:ext cx="12188520" cy="319957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3" name="TextBox 2"/>
          <p:cNvSpPr txBox="1"/>
          <p:nvPr/>
        </p:nvSpPr>
        <p:spPr>
          <a:xfrm>
            <a:off x="457080" y="412266"/>
            <a:ext cx="11244191" cy="553726"/>
          </a:xfrm>
          <a:prstGeom prst="rect">
            <a:avLst/>
          </a:prstGeom>
          <a:noFill/>
        </p:spPr>
        <p:txBody>
          <a:bodyPr wrap="square" lIns="73133" rIns="73133" anchor="t">
            <a:spAutoFit/>
          </a:bodyPr>
          <a:lstStyle/>
          <a:p>
            <a:pPr algn="l"/>
            <a:r>
              <a:rPr sz="2999" b="1">
                <a:solidFill>
                  <a:srgbClr val="111827"/>
                </a:solidFill>
                <a:latin typeface="Calibri"/>
              </a:rPr>
              <a:t>What Happens at Each Stage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080" y="1024754"/>
            <a:ext cx="1279827" cy="45708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5" name="TextBox 4"/>
          <p:cNvSpPr txBox="1"/>
          <p:nvPr/>
        </p:nvSpPr>
        <p:spPr>
          <a:xfrm>
            <a:off x="457080" y="1116171"/>
            <a:ext cx="11244191" cy="307697"/>
          </a:xfrm>
          <a:prstGeom prst="rect">
            <a:avLst/>
          </a:prstGeom>
          <a:noFill/>
        </p:spPr>
        <p:txBody>
          <a:bodyPr wrap="square" lIns="73133" rIns="73133" anchor="t">
            <a:spAutoFit/>
          </a:bodyPr>
          <a:lstStyle/>
          <a:p>
            <a:pPr algn="l"/>
            <a:r>
              <a:rPr sz="1400">
                <a:solidFill>
                  <a:srgbClr val="4B5563"/>
                </a:solidFill>
                <a:latin typeface="Calibri"/>
              </a:rPr>
              <a:t>Key actions, decisions, and gotchas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080" y="1692092"/>
            <a:ext cx="1992873" cy="4845058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7" name="Rectangle 6"/>
          <p:cNvSpPr/>
          <p:nvPr/>
        </p:nvSpPr>
        <p:spPr>
          <a:xfrm>
            <a:off x="457080" y="1692093"/>
            <a:ext cx="1992873" cy="639913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8" name="TextBox 7"/>
          <p:cNvSpPr txBox="1"/>
          <p:nvPr/>
        </p:nvSpPr>
        <p:spPr>
          <a:xfrm>
            <a:off x="457080" y="1835188"/>
            <a:ext cx="1992873" cy="353723"/>
          </a:xfrm>
          <a:prstGeom prst="rect">
            <a:avLst/>
          </a:prstGeom>
          <a:noFill/>
        </p:spPr>
        <p:txBody>
          <a:bodyPr wrap="square" lIns="73133" rIns="73133" anchor="ctr">
            <a:spAutoFit/>
          </a:bodyPr>
          <a:lstStyle/>
          <a:p>
            <a:pPr algn="ctr"/>
            <a:r>
              <a:rPr sz="1699" b="1">
                <a:solidFill>
                  <a:srgbClr val="FFFFFF"/>
                </a:solidFill>
                <a:latin typeface="Calibri"/>
              </a:rPr>
              <a:t>1. Generate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205" y="2514839"/>
            <a:ext cx="1764332" cy="1328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Calibri"/>
              </a:rPr>
              <a:t>Spec-driven code gen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111827"/>
                </a:solidFill>
                <a:latin typeface="Calibri"/>
              </a:rPr>
              <a:t>requirements -&gt; design -&gt; tasks -&gt; code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3B82F6"/>
                </a:solidFill>
                <a:latin typeface="Calibri"/>
              </a:rPr>
              <a:t>Output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111827"/>
                </a:solidFill>
                <a:latin typeface="Calibri"/>
              </a:rPr>
              <a:t>Flask app with CadQuery / OpenCascade geometry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9910" y="1692092"/>
            <a:ext cx="1992873" cy="4845058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11" name="Rectangle 10"/>
          <p:cNvSpPr/>
          <p:nvPr/>
        </p:nvSpPr>
        <p:spPr>
          <a:xfrm>
            <a:off x="2769910" y="1692093"/>
            <a:ext cx="1992873" cy="639913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12" name="TextBox 11"/>
          <p:cNvSpPr txBox="1"/>
          <p:nvPr/>
        </p:nvSpPr>
        <p:spPr>
          <a:xfrm>
            <a:off x="2769910" y="1835188"/>
            <a:ext cx="1992873" cy="353723"/>
          </a:xfrm>
          <a:prstGeom prst="rect">
            <a:avLst/>
          </a:prstGeom>
          <a:noFill/>
        </p:spPr>
        <p:txBody>
          <a:bodyPr wrap="square" lIns="73133" rIns="73133" anchor="ctr">
            <a:spAutoFit/>
          </a:bodyPr>
          <a:lstStyle/>
          <a:p>
            <a:pPr algn="ctr"/>
            <a:r>
              <a:rPr sz="1699" b="1">
                <a:solidFill>
                  <a:srgbClr val="FFFFFF"/>
                </a:solidFill>
                <a:latin typeface="Calibri"/>
              </a:rPr>
              <a:t>2. Run Local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7034" y="2514839"/>
            <a:ext cx="1764332" cy="1174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Stack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111827"/>
                </a:solidFill>
                <a:latin typeface="Calibri"/>
              </a:rPr>
              <a:t>Python 3.11+, Flask on localhost:5000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  <a:latin typeface="Calibri"/>
              </a:rPr>
              <a:t>Verify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111827"/>
                </a:solidFill>
                <a:latin typeface="Calibri"/>
              </a:rPr>
              <a:t>Upload STEP file, confirm DFM analysis runs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07034" y="5257324"/>
            <a:ext cx="1718624" cy="1096994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15" name="TextBox 14"/>
          <p:cNvSpPr txBox="1"/>
          <p:nvPr/>
        </p:nvSpPr>
        <p:spPr>
          <a:xfrm>
            <a:off x="2998450" y="5330457"/>
            <a:ext cx="1535792" cy="564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59E0B"/>
                </a:solidFill>
                <a:latin typeface="Calibri"/>
              </a:rPr>
              <a:t>Gotcha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11827"/>
                </a:solidFill>
                <a:latin typeface="Calibri"/>
              </a:rPr>
              <a:t>Disconnect Zscaler/VPN when testing localhost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82739" y="1692092"/>
            <a:ext cx="1992873" cy="4845058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17" name="Rectangle 16"/>
          <p:cNvSpPr/>
          <p:nvPr/>
        </p:nvSpPr>
        <p:spPr>
          <a:xfrm>
            <a:off x="5082739" y="1692093"/>
            <a:ext cx="1992873" cy="639913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18" name="TextBox 17"/>
          <p:cNvSpPr txBox="1"/>
          <p:nvPr/>
        </p:nvSpPr>
        <p:spPr>
          <a:xfrm>
            <a:off x="5082739" y="1835188"/>
            <a:ext cx="1992873" cy="353723"/>
          </a:xfrm>
          <a:prstGeom prst="rect">
            <a:avLst/>
          </a:prstGeom>
          <a:noFill/>
        </p:spPr>
        <p:txBody>
          <a:bodyPr wrap="square" lIns="73133" rIns="73133" anchor="ctr">
            <a:spAutoFit/>
          </a:bodyPr>
          <a:lstStyle/>
          <a:p>
            <a:pPr algn="ctr"/>
            <a:r>
              <a:rPr sz="1699" b="1">
                <a:solidFill>
                  <a:srgbClr val="FFFFFF"/>
                </a:solidFill>
                <a:latin typeface="Calibri"/>
              </a:rPr>
              <a:t>3. Back 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9864" y="2514839"/>
            <a:ext cx="1764332" cy="1328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Calibri"/>
              </a:rPr>
              <a:t>Auth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111827"/>
                </a:solidFill>
                <a:latin typeface="Calibri"/>
              </a:rPr>
              <a:t>Cisco VPN + mwinit -f (~20h SSH cert)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EF4444"/>
                </a:solidFill>
                <a:latin typeface="Calibri"/>
              </a:rPr>
              <a:t>Push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111827"/>
                </a:solidFill>
                <a:latin typeface="Calibri"/>
              </a:rPr>
              <a:t>git push origin HEAD:refs/heads/initial-import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9864" y="5257324"/>
            <a:ext cx="1718624" cy="1096994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21" name="TextBox 20"/>
          <p:cNvSpPr txBox="1"/>
          <p:nvPr/>
        </p:nvSpPr>
        <p:spPr>
          <a:xfrm>
            <a:off x="5311280" y="5330457"/>
            <a:ext cx="1535792" cy="710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59E0B"/>
                </a:solidFill>
                <a:latin typeface="Calibri"/>
              </a:rPr>
              <a:t>Gotcha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11827"/>
                </a:solidFill>
                <a:latin typeface="Calibri"/>
              </a:rPr>
              <a:t>Never push to mainline; avoid folder/file name collisions on Windows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95569" y="1692092"/>
            <a:ext cx="1992873" cy="4845058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23" name="Rectangle 22"/>
          <p:cNvSpPr/>
          <p:nvPr/>
        </p:nvSpPr>
        <p:spPr>
          <a:xfrm>
            <a:off x="7395569" y="1692093"/>
            <a:ext cx="1992873" cy="639913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24" name="TextBox 23"/>
          <p:cNvSpPr txBox="1"/>
          <p:nvPr/>
        </p:nvSpPr>
        <p:spPr>
          <a:xfrm>
            <a:off x="7395569" y="1835188"/>
            <a:ext cx="1992873" cy="353723"/>
          </a:xfrm>
          <a:prstGeom prst="rect">
            <a:avLst/>
          </a:prstGeom>
          <a:noFill/>
        </p:spPr>
        <p:txBody>
          <a:bodyPr wrap="square" lIns="73133" rIns="73133" anchor="ctr">
            <a:spAutoFit/>
          </a:bodyPr>
          <a:lstStyle/>
          <a:p>
            <a:pPr algn="ctr"/>
            <a:r>
              <a:rPr sz="1699" b="1">
                <a:solidFill>
                  <a:srgbClr val="FFFFFF"/>
                </a:solidFill>
                <a:latin typeface="Calibri"/>
              </a:rPr>
              <a:t>4. Review &amp; Merge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32694" y="2514838"/>
            <a:ext cx="1764332" cy="1020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5CF6"/>
                </a:solidFill>
                <a:latin typeface="Calibri"/>
              </a:rPr>
              <a:t>Tool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111827"/>
                </a:solidFill>
                <a:latin typeface="Calibri"/>
              </a:rPr>
              <a:t>cr CLI (Linux only)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8B5CF6"/>
                </a:solidFill>
                <a:latin typeface="Calibri"/>
              </a:rPr>
              <a:t>Options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111827"/>
                </a:solidFill>
                <a:latin typeface="Calibri"/>
              </a:rPr>
              <a:t>Cloud Desktop, teammate with one, or WSL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32694" y="5257324"/>
            <a:ext cx="1718624" cy="1096994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27" name="TextBox 26"/>
          <p:cNvSpPr txBox="1"/>
          <p:nvPr/>
        </p:nvSpPr>
        <p:spPr>
          <a:xfrm>
            <a:off x="7624110" y="5330457"/>
            <a:ext cx="1535792" cy="710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59E0B"/>
                </a:solidFill>
                <a:latin typeface="Calibri"/>
              </a:rPr>
              <a:t>Gotcha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11827"/>
                </a:solidFill>
                <a:latin typeface="Calibri"/>
              </a:rPr>
              <a:t>Defer this stage if you only need an AgentSpace release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08399" y="1692092"/>
            <a:ext cx="1992873" cy="4845058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29" name="Rectangle 28"/>
          <p:cNvSpPr/>
          <p:nvPr/>
        </p:nvSpPr>
        <p:spPr>
          <a:xfrm>
            <a:off x="9708399" y="1692093"/>
            <a:ext cx="1992873" cy="63991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30" name="TextBox 29"/>
          <p:cNvSpPr txBox="1"/>
          <p:nvPr/>
        </p:nvSpPr>
        <p:spPr>
          <a:xfrm>
            <a:off x="9708399" y="1835188"/>
            <a:ext cx="1992873" cy="353723"/>
          </a:xfrm>
          <a:prstGeom prst="rect">
            <a:avLst/>
          </a:prstGeom>
          <a:noFill/>
        </p:spPr>
        <p:txBody>
          <a:bodyPr wrap="square" lIns="73133" rIns="73133" anchor="ctr">
            <a:spAutoFit/>
          </a:bodyPr>
          <a:lstStyle/>
          <a:p>
            <a:pPr algn="ctr"/>
            <a:r>
              <a:rPr sz="1699" b="1">
                <a:solidFill>
                  <a:srgbClr val="FFFFFF"/>
                </a:solidFill>
                <a:latin typeface="Calibri"/>
              </a:rPr>
              <a:t>5. Release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45523" y="2514839"/>
            <a:ext cx="1764332" cy="1174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Path A (fast)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111827"/>
                </a:solidFill>
                <a:latin typeface="Calibri"/>
              </a:rPr>
              <a:t>Upload rules MD + PDFs, generate HTML, share URL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10B981"/>
                </a:solidFill>
                <a:latin typeface="Calibri"/>
              </a:rPr>
              <a:t>Path B (live app)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111827"/>
                </a:solidFill>
                <a:latin typeface="Calibri"/>
              </a:rPr>
              <a:t>Local install -&gt; Cloud Desktop -&gt; Pipeline + Apollo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Welding DFM (AWS Compliance)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Material-specific rules for welded assemblies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9264"/>
            <a:ext cx="12188952" cy="5888736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32F3E"/>
                </a:solidFill>
                <a:latin typeface="Calibri"/>
              </a:rPr>
              <a:t>AWS Standards Supported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F3E"/>
                </a:solidFill>
                <a:latin typeface="Calibri"/>
              </a:rPr>
              <a:t>AWS D1.1 / D1.1M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916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Structural Welding Code - Steel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7568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F3E"/>
                </a:solidFill>
                <a:latin typeface="Calibri"/>
              </a:rPr>
              <a:t>AWS D1.2 / D1.2M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0756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Structural Welding Code - Aluminum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59736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F3E"/>
                </a:solidFill>
                <a:latin typeface="Calibri"/>
              </a:rPr>
              <a:t>AWS D1.3 / D1.3M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459736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Structural Welding Code - Sheet Steel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43784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F3E"/>
                </a:solidFill>
                <a:latin typeface="Calibri"/>
              </a:rPr>
              <a:t>AWS D1.6 / D1.6M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843784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Structural Welding Code - Stainless Steel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22783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F3E"/>
                </a:solidFill>
                <a:latin typeface="Calibri"/>
              </a:rPr>
              <a:t>AWS A2.4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22783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Standard Symbols for Welding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32F3E"/>
                </a:solidFill>
                <a:latin typeface="Calibri"/>
              </a:rPr>
              <a:t>Inspection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976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Groove angles (50-65 degrees depending on material)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Skewed joint beveling requirements based on joint angle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Weld access (gun clearance and arc visibility)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Material thickness minimums per AWS D1.x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Root opening sizing for full penetration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CJP vs PJP joint design and fillet weld sizing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Filler material recommendations per parent material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Process-Specific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Different process, different thresholds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9264"/>
            <a:ext cx="12188952" cy="5888736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657600" cy="502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3657600" cy="54864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29844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CNC Machining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Wall &gt;= 0.8mm aluminum, 1.0mm steel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Hole depth-to-diameter &lt;= 4:1 (10:1 deep)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Internal corner &gt;= 1/3 depth or 0.5mm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Envelope &lt;= 500x500x500 mm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Feature size &gt;= 2.0mm for standard tooling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188720"/>
            <a:ext cx="3657600" cy="502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188720"/>
            <a:ext cx="3657600" cy="54864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29844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Sheet Metal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2024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Bend radius &gt;= 1.0mm aluminum, 1.5mm steel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Hole-to-edge distance &gt;= 2.0mm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Wall &gt;= 0.5mm aluminum, 0.8mm steel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Hole-to-bend proximity check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Hole-to-hole spacing per design guideline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1188720"/>
            <a:ext cx="3657600" cy="502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21040" y="1188720"/>
            <a:ext cx="3657600" cy="54864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129844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Injection Molding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192024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Wall thickness 0.8 to 4.0 mm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Draft &gt;= 1 degree minimum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Corner radii &gt;= 0.5mm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Uniform wall variation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Boss and rib proportions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Geometric Feature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B-Rep topology analysis via CadQuery / OpenCascade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9264"/>
            <a:ext cx="12188952" cy="5888736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539496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109728" cy="128016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41732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2F3E"/>
                </a:solidFill>
                <a:latin typeface="Calibri"/>
              </a:rPr>
              <a:t>Holes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Diameter, depth, axis, location. Auto-classified as through, blind, counterbore, countersink.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280160"/>
            <a:ext cx="539496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280160"/>
            <a:ext cx="109728" cy="128016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41732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2F3E"/>
                </a:solidFill>
                <a:latin typeface="Calibri"/>
              </a:rPr>
              <a:t>Corners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828800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Internal radii, angles, type (internal/external). Flagged when below process minimum.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834639"/>
            <a:ext cx="539496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2834639"/>
            <a:ext cx="109728" cy="128016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2971799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2F3E"/>
                </a:solidFill>
                <a:latin typeface="Calibri"/>
              </a:rPr>
              <a:t>Pockets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383279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Dimensions, corner radii, depth-to-width. Validated against tooling reach.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834639"/>
            <a:ext cx="539496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2834639"/>
            <a:ext cx="109728" cy="128016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2971799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2F3E"/>
                </a:solidFill>
                <a:latin typeface="Calibri"/>
              </a:rPr>
              <a:t>Bends (sheet metal)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383279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Bend axis, angle, radius. Used for hole-to-bend proximity.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389120"/>
            <a:ext cx="539496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4389120"/>
            <a:ext cx="109728" cy="128016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45262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2F3E"/>
                </a:solidFill>
                <a:latin typeface="Calibri"/>
              </a:rPr>
              <a:t>Planar faces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937760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Normal, area. Used for wall thickness and draft analysis.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389120"/>
            <a:ext cx="539496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09360" y="4389120"/>
            <a:ext cx="109728" cy="128016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45262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2F3E"/>
                </a:solidFill>
                <a:latin typeface="Calibri"/>
              </a:rPr>
              <a:t>Spatial relationships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937760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Hole-to-hole, hole-to-edge, hole-to-bend distances.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Measurement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Ray-casting vs bounding-box estimation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9264"/>
            <a:ext cx="12188952" cy="5888736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5303520" cy="548640"/>
          </a:xfrm>
          <a:prstGeom prst="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389888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Before (bounding-box)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Estimated wall thickness from envelope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Tolerance: +/- 10 to 20 mm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False errors on thin-wall parts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No location data on violations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No feature classification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28016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280160"/>
            <a:ext cx="5303520" cy="548640"/>
          </a:xfrm>
          <a:prstGeom prst="rect">
            <a:avLst/>
          </a:prstGeom>
          <a:solidFill>
            <a:srgbClr val="228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389888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Now (ray-casting + B-Rep)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574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Ray-cast wall thickness on real geometry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Tolerance: +/- 0.01 mm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Exact 3D coordinates per violation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Auto-classified holes, corners, pockets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Process-specific severity grading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3D Visualization and Reports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88952" cy="5888736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32F3E"/>
                </a:solidFill>
                <a:latin typeface="Calibri"/>
              </a:rPr>
              <a:t>Output Formats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109728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137160" cy="10972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0136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32F3E"/>
                </a:solidFill>
                <a:latin typeface="Calibri"/>
              </a:rPr>
              <a:t>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801368"/>
            <a:ext cx="8229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Interactive report with severity color coding, expandable findings, embedded 3D views.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109728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2971800"/>
            <a:ext cx="137160" cy="109728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08152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32F3E"/>
                </a:solidFill>
                <a:latin typeface="Calibri"/>
              </a:rPr>
              <a:t>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081528"/>
            <a:ext cx="8229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Machine-readable, versioned schema for integration with PLM and review tools.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251960"/>
            <a:ext cx="109728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4251960"/>
            <a:ext cx="137160" cy="109728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36168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32F3E"/>
                </a:solidFill>
                <a:latin typeface="Calibri"/>
              </a:rPr>
              <a:t>Word (.docx)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361688"/>
            <a:ext cx="8229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Formatted document with multi-view 3D renderings and per-violation tables.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Calibri"/>
              </a:rPr>
              <a:t>Severity coding: Red = critical | Orange = warning | Yellow = optimization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Flask web app + Python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9264"/>
            <a:ext cx="12188952" cy="5888736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109728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109728" cy="6400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3716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F3E"/>
                </a:solidFill>
                <a:latin typeface="Calibri"/>
              </a:rPr>
              <a:t>Web UI (Flask)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3716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Drag-and-drop upload, run analysis, browse violations, export report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057400"/>
            <a:ext cx="109728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2057400"/>
            <a:ext cx="109728" cy="6400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14884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F3E"/>
                </a:solidFill>
                <a:latin typeface="Calibri"/>
              </a:rPr>
              <a:t>CAD Parser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1488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STEP/IGES via pythonocc-core (OCP), STL via trimesh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834639"/>
            <a:ext cx="109728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2834639"/>
            <a:ext cx="109728" cy="6400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2926079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F3E"/>
                </a:solidFill>
                <a:latin typeface="Calibri"/>
              </a:rPr>
              <a:t>Feature Extractor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926079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CadQuery + OpenCascade B-Rep traversal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611879"/>
            <a:ext cx="109728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3611879"/>
            <a:ext cx="109728" cy="6400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703319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F3E"/>
                </a:solidFill>
                <a:latin typeface="Calibri"/>
              </a:rPr>
              <a:t>DFM Inspector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703319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Process-specific rule evaluation, severity grading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389120"/>
            <a:ext cx="109728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4389120"/>
            <a:ext cx="109728" cy="6400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44805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F3E"/>
                </a:solidFill>
                <a:latin typeface="Calibri"/>
              </a:rPr>
              <a:t>Rule Config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48056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YAML-driven thresholds, easy to customize per program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166360"/>
            <a:ext cx="109728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5166360"/>
            <a:ext cx="109728" cy="6400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52578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F3E"/>
                </a:solidFill>
                <a:latin typeface="Calibri"/>
              </a:rPr>
              <a:t>Reporters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52578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HTML / JSON / Word generation with 3D rendering hooks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Industry Standards Referenced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88952" cy="5888736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32F3E"/>
                </a:solidFill>
                <a:latin typeface="Calibri"/>
              </a:rPr>
              <a:t>Welding (AWS)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AWS D1.1 / D1.1M - Steel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AWS D1.2 / D1.2M - Aluminum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AWS D1.3 / D1.3M - Sheet Steel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AWS D1.6 / D1.6M - Stainless Steel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AWS A2.4 - Welding Symbols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32F3E"/>
                </a:solidFill>
                <a:latin typeface="Calibri"/>
              </a:rPr>
              <a:t>Robotics / Safety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ISO 3691-4 - Industrial trucks safety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ISO 13849-1 - Safety control systems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Amazon Robotics design guidelines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32F3E"/>
                </a:solidFill>
                <a:latin typeface="Calibri"/>
              </a:rPr>
              <a:t>Manufacturing Best Practices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6916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Injection molding wall and draft guides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CNC tool reach and feature size limits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Sheet metal bend and edge rules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Sheet metal design guideline 930-00172_R01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Tolerance stack-up best practices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Typical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88952" cy="5888736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" y="1325880"/>
            <a:ext cx="640080" cy="64008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2801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32F3E"/>
                </a:solidFill>
                <a:latin typeface="Calibri"/>
              </a:rPr>
              <a:t>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32588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Drop a STEP, IGES, or STL file into the web UI or pass on the CLI.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286000"/>
            <a:ext cx="640080" cy="64008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24028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32F3E"/>
                </a:solidFill>
                <a:latin typeface="Calibri"/>
              </a:rPr>
              <a:t>Parse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Engine loads B-Rep topology, auto-detects units, extracts features.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246120"/>
            <a:ext cx="640080" cy="64008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20040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32F3E"/>
                </a:solidFill>
                <a:latin typeface="Calibri"/>
              </a:rPr>
              <a:t>Inspect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24612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Process-specific rules run, each finding tagged with severity and location.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16052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32F3E"/>
                </a:solidFill>
                <a:latin typeface="Calibri"/>
              </a:rPr>
              <a:t>Visualize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20624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Findings rendered on the 3D model with color-coded markers.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166360"/>
            <a:ext cx="640080" cy="64008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12064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32F3E"/>
                </a:solidFill>
                <a:latin typeface="Calibri"/>
              </a:rPr>
              <a:t>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16636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Export HTML, JSON, or Word for design review or manufacturing handoff.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88952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DFM Inspector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9900"/>
                </a:solidFill>
                <a:latin typeface="Calibri"/>
              </a:rPr>
              <a:t>Catch DFM violations in seconds, not weeks.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Get Started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Launch via DFM_Inspector_Launcher.bat or python app.py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Drop a STEP/IGES/STL file and click Analyze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Customize thresholds in config/inspection_rules.yaml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Hook into pipelines via JSON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1562</Words>
  <Application>Microsoft Office PowerPoint</Application>
  <PresentationFormat>Custom</PresentationFormat>
  <Paragraphs>284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Atala, Alex [C]</dc:creator>
  <cp:keywords/>
  <dc:description>generated using python-pptx</dc:description>
  <cp:lastModifiedBy>Atala, Alex [C]</cp:lastModifiedBy>
  <cp:revision>2</cp:revision>
  <dcterms:created xsi:type="dcterms:W3CDTF">2013-01-27T09:14:16Z</dcterms:created>
  <dcterms:modified xsi:type="dcterms:W3CDTF">2026-06-23T12:28:27Z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2026-06-22T20:01:23Z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d6b20ce0-dbbf-482a-9b37-b8c77fd2b9a2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10, 3, 0, 1</vt:lpwstr>
  </property>
</Properties>
</file>